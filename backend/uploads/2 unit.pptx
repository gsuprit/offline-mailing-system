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331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30" r:id="rId45"/>
    <p:sldId id="332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1" autoAdjust="0"/>
    <p:restoredTop sz="94660"/>
  </p:normalViewPr>
  <p:slideViewPr>
    <p:cSldViewPr>
      <p:cViewPr varScale="1">
        <p:scale>
          <a:sx n="78" d="100"/>
          <a:sy n="78" d="100"/>
        </p:scale>
        <p:origin x="164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A8624-8B0D-488B-BCC8-0748E3362217}" type="datetimeFigureOut">
              <a:rPr lang="en-GB" smtClean="0"/>
              <a:t>07/02/2026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C5F19-2EBF-41F0-BC2A-90EF1107B9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09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5EFD24-C53D-42E8-A331-AE646E875B1B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97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EAA4-1880-63CE-6648-C690D477F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1676400"/>
            <a:ext cx="8077200" cy="220979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UNIT-II                 Introduction to the Relational Model</a:t>
            </a:r>
            <a:endParaRPr lang="en-IN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F225E-BC0D-6755-2F94-18F4F31C3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i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907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" y="685800"/>
            <a:ext cx="90678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800" dirty="0"/>
          </a:p>
          <a:p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b="1" dirty="0">
                <a:solidFill>
                  <a:srgbClr val="FF0000"/>
                </a:solidFill>
              </a:rPr>
              <a:t>UNIT – II </a:t>
            </a:r>
            <a:endParaRPr lang="en-GB" sz="2800" dirty="0">
              <a:solidFill>
                <a:srgbClr val="FF0000"/>
              </a:solidFill>
            </a:endParaRPr>
          </a:p>
          <a:p>
            <a:r>
              <a:rPr lang="en-GB" sz="2800" b="1" dirty="0">
                <a:solidFill>
                  <a:schemeClr val="tx2"/>
                </a:solidFill>
              </a:rPr>
              <a:t>Introduction to the Relational Model</a:t>
            </a:r>
            <a:r>
              <a:rPr lang="en-GB" sz="2800" b="1" dirty="0"/>
              <a:t>: </a:t>
            </a:r>
            <a:r>
              <a:rPr lang="en-GB" sz="2800" dirty="0"/>
              <a:t>Integrity constraint over relations, enforcing integrity constraints, querying relational data, logical data base design, introduction to views, destroying/altering tables and views. Relational Algebra, Tuple relational Calculus, Domain relational calculus. </a:t>
            </a:r>
          </a:p>
          <a:p>
            <a:endParaRPr lang="en-GB" sz="2800" b="1" dirty="0"/>
          </a:p>
          <a:p>
            <a:endParaRPr lang="en-GB" sz="2800" b="1" dirty="0"/>
          </a:p>
          <a:p>
            <a:endParaRPr lang="en-GB" sz="2800" b="1" dirty="0"/>
          </a:p>
          <a:p>
            <a:r>
              <a:rPr lang="en-GB" sz="2800" b="1" dirty="0">
                <a:solidFill>
                  <a:schemeClr val="tx2"/>
                </a:solidFill>
              </a:rPr>
              <a:t>RELATIONAL MODEL </a:t>
            </a:r>
            <a:endParaRPr lang="en-GB" sz="2800" dirty="0">
              <a:solidFill>
                <a:schemeClr val="tx2"/>
              </a:solidFill>
            </a:endParaRPr>
          </a:p>
          <a:p>
            <a:r>
              <a:rPr lang="en-GB" sz="2800" dirty="0"/>
              <a:t>Relational data model is the most popular data model used widely around the world for data storage. In this model </a:t>
            </a:r>
            <a:r>
              <a:rPr lang="en-GB" sz="2800" b="1" dirty="0">
                <a:solidFill>
                  <a:schemeClr val="tx2"/>
                </a:solidFill>
              </a:rPr>
              <a:t>data is stored in the form of tables. </a:t>
            </a:r>
          </a:p>
        </p:txBody>
      </p:sp>
    </p:spTree>
    <p:extLst>
      <p:ext uri="{BB962C8B-B14F-4D97-AF65-F5344CB8AC3E}">
        <p14:creationId xmlns:p14="http://schemas.microsoft.com/office/powerpoint/2010/main" val="301204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4133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dirty="0"/>
          </a:p>
          <a:p>
            <a:r>
              <a:rPr lang="en-GB" dirty="0"/>
              <a:t>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51942"/>
            <a:ext cx="9144000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439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7912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sz="2800" b="1" dirty="0">
                <a:solidFill>
                  <a:schemeClr val="tx2"/>
                </a:solidFill>
              </a:rPr>
              <a:t>Table: </a:t>
            </a:r>
            <a:r>
              <a:rPr lang="en-GB" sz="2800" dirty="0"/>
              <a:t>In relational model the data is saved in the form of tables. A table has two properties rows and columns. Rows represent records and columns represent attributes. 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b="1" dirty="0">
                <a:solidFill>
                  <a:schemeClr val="tx2"/>
                </a:solidFill>
              </a:rPr>
              <a:t>Attribute:</a:t>
            </a:r>
            <a:r>
              <a:rPr lang="en-GB" sz="2800" b="1" dirty="0"/>
              <a:t>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Each column in a Table </a:t>
            </a:r>
            <a:r>
              <a:rPr lang="en-GB" sz="2800" dirty="0"/>
              <a:t>is an attribute. Attributes are the properties that define a relation. e.g., HTNO, NAME, AGE, CITY in the above relation.</a:t>
            </a:r>
          </a:p>
          <a:p>
            <a:endParaRPr lang="en-GB" sz="2800" dirty="0"/>
          </a:p>
          <a:p>
            <a:r>
              <a:rPr lang="en-GB" sz="2800" dirty="0"/>
              <a:t>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Tuple: </a:t>
            </a:r>
            <a:r>
              <a:rPr lang="en-GB" sz="2800" dirty="0"/>
              <a:t>Every single row of a table is called record or tuple. </a:t>
            </a:r>
          </a:p>
        </p:txBody>
      </p:sp>
    </p:spTree>
    <p:extLst>
      <p:ext uri="{BB962C8B-B14F-4D97-AF65-F5344CB8AC3E}">
        <p14:creationId xmlns:p14="http://schemas.microsoft.com/office/powerpoint/2010/main" val="923303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79796"/>
            <a:ext cx="9120554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sz="3200" b="1" dirty="0">
                <a:solidFill>
                  <a:schemeClr val="tx2"/>
                </a:solidFill>
              </a:rPr>
              <a:t>Relation Schema</a:t>
            </a:r>
            <a:r>
              <a:rPr lang="en-GB" sz="2800" b="1" dirty="0"/>
              <a:t>: </a:t>
            </a:r>
            <a:r>
              <a:rPr lang="en-GB" sz="2800" dirty="0"/>
              <a:t>It represents the name of the relation (Table) with its attributes. </a:t>
            </a:r>
          </a:p>
          <a:p>
            <a:r>
              <a:rPr lang="en-GB" sz="2800" dirty="0" err="1"/>
              <a:t>Eg</a:t>
            </a:r>
            <a:r>
              <a:rPr lang="en-GB" sz="2800" dirty="0"/>
              <a:t>., STUDENT_DATA( </a:t>
            </a:r>
            <a:r>
              <a:rPr lang="en-GB" sz="2800" dirty="0" err="1"/>
              <a:t>htno</a:t>
            </a:r>
            <a:r>
              <a:rPr lang="en-GB" sz="2800" dirty="0"/>
              <a:t>, name, age, city) </a:t>
            </a:r>
          </a:p>
          <a:p>
            <a:endParaRPr lang="en-GB" sz="2800" dirty="0"/>
          </a:p>
          <a:p>
            <a:r>
              <a:rPr lang="en-GB" sz="2800" b="1" dirty="0">
                <a:solidFill>
                  <a:schemeClr val="tx2"/>
                </a:solidFill>
              </a:rPr>
              <a:t>Degree:</a:t>
            </a:r>
            <a:r>
              <a:rPr lang="en-GB" sz="2800" b="1" dirty="0"/>
              <a:t> </a:t>
            </a:r>
            <a:r>
              <a:rPr lang="en-GB" sz="2800" dirty="0"/>
              <a:t>The total number of attributes in the relation is called the degree of the relation. 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b="1" dirty="0">
                <a:solidFill>
                  <a:schemeClr val="tx2"/>
                </a:solidFill>
              </a:rPr>
              <a:t>Cardinality:</a:t>
            </a:r>
            <a:r>
              <a:rPr lang="en-GB" sz="2800" b="1" dirty="0"/>
              <a:t> </a:t>
            </a:r>
            <a:r>
              <a:rPr lang="en-GB" sz="2800" dirty="0"/>
              <a:t>Total number of rows present in the Table.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6488"/>
            <a:ext cx="912055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3200" b="1" dirty="0">
              <a:solidFill>
                <a:schemeClr val="tx2"/>
              </a:solidFill>
            </a:endParaRPr>
          </a:p>
          <a:p>
            <a:r>
              <a:rPr lang="en-GB" sz="3200" b="1" dirty="0">
                <a:solidFill>
                  <a:schemeClr val="tx2"/>
                </a:solidFill>
              </a:rPr>
              <a:t>A relation instance </a:t>
            </a:r>
            <a:r>
              <a:rPr lang="en-GB" sz="2800" dirty="0"/>
              <a:t>can be thought of as a table in which each tuple is a row, and all rows have the same number of fields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907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26A19-8136-B44D-800F-4FE9F2E93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129E-0DBE-1E78-FDC4-E62834E2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55838"/>
            <a:ext cx="8229600" cy="868362"/>
          </a:xfrm>
        </p:spPr>
        <p:txBody>
          <a:bodyPr>
            <a:normAutofit/>
          </a:bodyPr>
          <a:lstStyle/>
          <a:p>
            <a:r>
              <a:rPr lang="en-IN" sz="4000" b="1" i="0" dirty="0">
                <a:solidFill>
                  <a:srgbClr val="610B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FA6F-7D80-D46C-95EE-98D3C162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200400"/>
            <a:ext cx="8229600" cy="5714999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are a </a:t>
            </a:r>
            <a:r>
              <a:rPr lang="en-US" sz="26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of rules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It is used to </a:t>
            </a:r>
            <a:r>
              <a:rPr lang="en-US" sz="26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the quality of information.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constraints ensure that the data insertion, updating, and other processes have to be performed in </a:t>
            </a:r>
            <a:r>
              <a:rPr lang="en-US" sz="26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 a way that data integrity is not affected</a:t>
            </a: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Integrity constraint is used to </a:t>
            </a:r>
            <a:r>
              <a:rPr lang="en-US" sz="26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guard against accidental damage to the database.</a:t>
            </a:r>
          </a:p>
          <a:p>
            <a:pPr marL="0" indent="0" algn="just">
              <a:buNone/>
            </a:pPr>
            <a:endParaRPr lang="en-US" sz="2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914400"/>
            <a:ext cx="8991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501D1C"/>
                </a:solidFill>
                <a:latin typeface="Agency FB" pitchFamily="34" charset="0"/>
              </a:rPr>
              <a:t>Data integrity </a:t>
            </a:r>
            <a:r>
              <a:rPr lang="en-GB" sz="2400" dirty="0"/>
              <a:t>is the </a:t>
            </a:r>
            <a:r>
              <a:rPr lang="en-GB" sz="2400" dirty="0">
                <a:solidFill>
                  <a:schemeClr val="tx2"/>
                </a:solidFill>
              </a:rPr>
              <a:t>accuracy, completeness, and reliability of data</a:t>
            </a:r>
            <a:r>
              <a:rPr lang="en-GB" sz="2400" dirty="0"/>
              <a:t>. It can be specified by the lack of variation between two instances or consecutive updates of a record, indicating that your information is </a:t>
            </a:r>
            <a:r>
              <a:rPr lang="en-GB" sz="2400" dirty="0">
                <a:solidFill>
                  <a:schemeClr val="tx2"/>
                </a:solidFill>
              </a:rPr>
              <a:t>error-free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7200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6700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sz="2800" b="1" dirty="0">
                <a:solidFill>
                  <a:schemeClr val="tx2"/>
                </a:solidFill>
              </a:rPr>
              <a:t>INTEGRITY CONSTRAINT</a:t>
            </a:r>
            <a:r>
              <a:rPr lang="en-GB" sz="2800" b="1" dirty="0"/>
              <a:t>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Integrity constraints are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a set of rules</a:t>
            </a:r>
            <a:r>
              <a:rPr lang="en-GB" sz="2800" dirty="0"/>
              <a:t> that the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database should not violate.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Integrity constraints ensure that authorized changes (update deletion, insertion) made to the database should not affect data consistency.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Integrity constraints may apply to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attribute</a:t>
            </a:r>
            <a:r>
              <a:rPr lang="en-GB" sz="2800" dirty="0"/>
              <a:t> or to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relationships between tables. </a:t>
            </a:r>
          </a:p>
        </p:txBody>
      </p:sp>
    </p:spTree>
    <p:extLst>
      <p:ext uri="{BB962C8B-B14F-4D97-AF65-F5344CB8AC3E}">
        <p14:creationId xmlns:p14="http://schemas.microsoft.com/office/powerpoint/2010/main" val="507703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2303-D9DE-6CD8-F8E6-8786906B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i="0" dirty="0">
                <a:solidFill>
                  <a:srgbClr val="610B38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Integrity Constraint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26327A-B4E1-0DEB-8104-33078A108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00" y="1219200"/>
            <a:ext cx="8534400" cy="536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7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9296400" cy="4457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0329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38200"/>
            <a:ext cx="914400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b="1" dirty="0"/>
              <a:t>Entity integrity constraints: </a:t>
            </a:r>
            <a:r>
              <a:rPr lang="en-GB" sz="2800" dirty="0"/>
              <a:t>The entity integrity constraint states that </a:t>
            </a:r>
            <a:r>
              <a:rPr lang="en-GB" sz="2800" b="1" dirty="0">
                <a:solidFill>
                  <a:schemeClr val="tx2"/>
                </a:solidFill>
              </a:rPr>
              <a:t>primary key value can't be null</a:t>
            </a:r>
            <a:r>
              <a:rPr lang="en-GB" sz="2800" dirty="0"/>
              <a:t>. This is because the primary key value is used to identify individual rows in relation. A table can contain a null value other than the primary key field.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9553"/>
            <a:ext cx="9256784" cy="3249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4061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311" y="826477"/>
            <a:ext cx="9302374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641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028342"/>
            <a:ext cx="8839200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b="1" dirty="0">
                <a:solidFill>
                  <a:schemeClr val="tx2"/>
                </a:solidFill>
              </a:rPr>
              <a:t>Key Constraints</a:t>
            </a:r>
            <a:r>
              <a:rPr lang="en-GB" sz="2800" b="1" dirty="0"/>
              <a:t>: </a:t>
            </a:r>
            <a:r>
              <a:rPr lang="en-GB" sz="2800" dirty="0"/>
              <a:t>A Key Constraint is a statement that a certain minimal subset of the fields of a </a:t>
            </a:r>
            <a:r>
              <a:rPr lang="en-GB" sz="2800" b="1" dirty="0">
                <a:solidFill>
                  <a:schemeClr val="tx2"/>
                </a:solidFill>
              </a:rPr>
              <a:t>relation is a unique identifier for a tuple. </a:t>
            </a:r>
          </a:p>
          <a:p>
            <a:r>
              <a:rPr lang="en-GB" sz="2800" dirty="0"/>
              <a:t>There are 4 types of key constraints. They are </a:t>
            </a:r>
          </a:p>
          <a:p>
            <a:endParaRPr lang="en-GB" sz="2800" dirty="0">
              <a:solidFill>
                <a:schemeClr val="tx2"/>
              </a:solidFill>
            </a:endParaRPr>
          </a:p>
          <a:p>
            <a:r>
              <a:rPr lang="en-GB" sz="2800" dirty="0">
                <a:solidFill>
                  <a:schemeClr val="tx2"/>
                </a:solidFill>
              </a:rPr>
              <a:t>i. </a:t>
            </a:r>
            <a:r>
              <a:rPr lang="en-GB" sz="2800" b="1" dirty="0">
                <a:solidFill>
                  <a:schemeClr val="tx2"/>
                </a:solidFill>
              </a:rPr>
              <a:t>Candidate key</a:t>
            </a:r>
            <a:r>
              <a:rPr lang="en-GB" sz="2800" b="1" dirty="0"/>
              <a:t>: </a:t>
            </a:r>
            <a:r>
              <a:rPr lang="en-GB" sz="2800" dirty="0"/>
              <a:t>The candidate keys in a table are defined as the set of keys that is minimal and can uniquely identify any data row in the table. </a:t>
            </a:r>
          </a:p>
          <a:p>
            <a:r>
              <a:rPr lang="en-GB" sz="2800" dirty="0">
                <a:solidFill>
                  <a:schemeClr val="tx2"/>
                </a:solidFill>
              </a:rPr>
              <a:t>ii. </a:t>
            </a:r>
            <a:r>
              <a:rPr lang="en-GB" sz="2800" b="1" dirty="0">
                <a:solidFill>
                  <a:schemeClr val="tx2"/>
                </a:solidFill>
              </a:rPr>
              <a:t>Primary key</a:t>
            </a:r>
            <a:r>
              <a:rPr lang="en-GB" sz="2800" b="1" dirty="0"/>
              <a:t>: </a:t>
            </a:r>
            <a:r>
              <a:rPr lang="en-GB" sz="2800" dirty="0"/>
              <a:t>It can uniquely identify any data row of the table. The primary key is one of the selected candidate key. </a:t>
            </a:r>
          </a:p>
        </p:txBody>
      </p:sp>
    </p:spTree>
    <p:extLst>
      <p:ext uri="{BB962C8B-B14F-4D97-AF65-F5344CB8AC3E}">
        <p14:creationId xmlns:p14="http://schemas.microsoft.com/office/powerpoint/2010/main" val="170237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914400"/>
            <a:ext cx="89916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2"/>
                </a:solidFill>
              </a:rPr>
              <a:t>iii. </a:t>
            </a:r>
            <a:r>
              <a:rPr lang="en-GB" sz="2800" b="1" dirty="0">
                <a:solidFill>
                  <a:schemeClr val="tx2"/>
                </a:solidFill>
              </a:rPr>
              <a:t>Super key</a:t>
            </a:r>
            <a:r>
              <a:rPr lang="en-GB" sz="2800" b="1" dirty="0"/>
              <a:t>: </a:t>
            </a:r>
            <a:r>
              <a:rPr lang="en-GB" sz="2800" dirty="0"/>
              <a:t>Super Key is the </a:t>
            </a:r>
            <a:r>
              <a:rPr lang="en-GB" sz="2800" b="1" dirty="0">
                <a:solidFill>
                  <a:schemeClr val="tx2"/>
                </a:solidFill>
              </a:rPr>
              <a:t>superset of primary key</a:t>
            </a:r>
            <a:r>
              <a:rPr lang="en-GB" sz="2800" dirty="0">
                <a:solidFill>
                  <a:schemeClr val="tx2"/>
                </a:solidFill>
              </a:rPr>
              <a:t>.</a:t>
            </a:r>
            <a:r>
              <a:rPr lang="en-GB" sz="2800" dirty="0"/>
              <a:t> The super key contains a set of attributes, including the primary key, which can uniquely identify any data row in the table.</a:t>
            </a:r>
          </a:p>
          <a:p>
            <a:endParaRPr lang="en-GB" sz="2800" dirty="0"/>
          </a:p>
          <a:p>
            <a:r>
              <a:rPr lang="en-GB" sz="2800" dirty="0">
                <a:solidFill>
                  <a:schemeClr val="tx2"/>
                </a:solidFill>
              </a:rPr>
              <a:t>iv. </a:t>
            </a:r>
            <a:r>
              <a:rPr lang="en-GB" sz="2800" b="1" dirty="0">
                <a:solidFill>
                  <a:schemeClr val="tx2"/>
                </a:solidFill>
              </a:rPr>
              <a:t>Foreign key</a:t>
            </a:r>
            <a:r>
              <a:rPr lang="en-GB" sz="2800" b="1" dirty="0"/>
              <a:t>: </a:t>
            </a:r>
            <a:r>
              <a:rPr lang="en-GB" sz="2800" dirty="0"/>
              <a:t>It is a key used to </a:t>
            </a:r>
            <a:r>
              <a:rPr lang="en-GB" sz="2800" b="1" dirty="0">
                <a:solidFill>
                  <a:schemeClr val="tx2"/>
                </a:solidFill>
              </a:rPr>
              <a:t>link two tables together</a:t>
            </a:r>
            <a:r>
              <a:rPr lang="en-GB" sz="2800" dirty="0"/>
              <a:t>. A FOREIGN KEY is a field (or collection of fields) in one table that refers to the PRIMARY KEY in another table.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Composite Key: </a:t>
            </a:r>
            <a:r>
              <a:rPr lang="en-GB" sz="2800" dirty="0"/>
              <a:t>If any single attribute of a table is not capable of being the key </a:t>
            </a:r>
            <a:r>
              <a:rPr lang="en-GB" sz="2800" dirty="0" err="1"/>
              <a:t>i.e</a:t>
            </a:r>
            <a:r>
              <a:rPr lang="en-GB" sz="2800" dirty="0"/>
              <a:t> it cannot identify a row uniquely, then we </a:t>
            </a:r>
            <a:r>
              <a:rPr lang="en-GB" sz="2800" b="1" dirty="0">
                <a:solidFill>
                  <a:schemeClr val="tx2"/>
                </a:solidFill>
              </a:rPr>
              <a:t>combine two or more attributes to form a key</a:t>
            </a:r>
            <a:r>
              <a:rPr lang="en-GB" sz="2800" dirty="0"/>
              <a:t>. This is known as a composite key.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Secondary Key</a:t>
            </a:r>
            <a:r>
              <a:rPr lang="en-GB" sz="2800" b="1" dirty="0"/>
              <a:t>: </a:t>
            </a:r>
            <a:r>
              <a:rPr lang="en-GB" sz="2800" dirty="0"/>
              <a:t>Only one of the candidate keys is selected as the primary key. The rest of them are known as secondary keys.  </a:t>
            </a:r>
          </a:p>
        </p:txBody>
      </p:sp>
    </p:spTree>
    <p:extLst>
      <p:ext uri="{BB962C8B-B14F-4D97-AF65-F5344CB8AC3E}">
        <p14:creationId xmlns:p14="http://schemas.microsoft.com/office/powerpoint/2010/main" val="418395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8615" y="1371600"/>
            <a:ext cx="92202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002060"/>
                </a:solidFill>
              </a:rPr>
              <a:t>ENFORCING INTEGRITY CONSTRAINTS </a:t>
            </a:r>
          </a:p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INTEGRITY CONSTRAINT </a:t>
            </a:r>
            <a:r>
              <a:rPr lang="en-GB" sz="2400" dirty="0"/>
              <a:t>are specified when a relation is created and </a:t>
            </a:r>
            <a:r>
              <a:rPr lang="en-GB" sz="2400" b="1" i="1" dirty="0">
                <a:solidFill>
                  <a:schemeClr val="tx2">
                    <a:lumMod val="50000"/>
                  </a:schemeClr>
                </a:solidFill>
              </a:rPr>
              <a:t>enforced or imposed when a relation is modified.</a:t>
            </a:r>
          </a:p>
          <a:p>
            <a:endParaRPr lang="en-GB" sz="2400" dirty="0"/>
          </a:p>
          <a:p>
            <a:r>
              <a:rPr lang="en-GB" sz="2400" b="1" i="1" dirty="0">
                <a:solidFill>
                  <a:srgbClr val="002060"/>
                </a:solidFill>
              </a:rPr>
              <a:t>7 constraint types: </a:t>
            </a:r>
          </a:p>
          <a:p>
            <a:endParaRPr lang="en-GB" sz="2400" dirty="0"/>
          </a:p>
          <a:p>
            <a:r>
              <a:rPr lang="en-GB" sz="2400" dirty="0">
                <a:solidFill>
                  <a:schemeClr val="tx2">
                    <a:lumMod val="50000"/>
                  </a:schemeClr>
                </a:solidFill>
              </a:rPr>
              <a:t>1. </a:t>
            </a:r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Data type constraint</a:t>
            </a:r>
            <a:r>
              <a:rPr lang="en-GB" sz="2400" b="1" dirty="0">
                <a:solidFill>
                  <a:schemeClr val="tx2"/>
                </a:solidFill>
              </a:rPr>
              <a:t>: </a:t>
            </a:r>
            <a:r>
              <a:rPr lang="en-GB" sz="2400" dirty="0"/>
              <a:t>This defines the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type of data, data length</a:t>
            </a:r>
            <a:r>
              <a:rPr lang="en-GB" sz="2400" dirty="0"/>
              <a:t>, and a few other attributes which are specifically associated with the type of data in a column. </a:t>
            </a:r>
          </a:p>
          <a:p>
            <a:endParaRPr lang="en-GB" sz="2400" b="1" i="1" dirty="0">
              <a:solidFill>
                <a:srgbClr val="002060"/>
              </a:solidFill>
            </a:endParaRPr>
          </a:p>
          <a:p>
            <a:endParaRPr lang="en-GB" sz="2400" dirty="0"/>
          </a:p>
          <a:p>
            <a:r>
              <a:rPr lang="en-GB" sz="2400" dirty="0">
                <a:solidFill>
                  <a:srgbClr val="002060"/>
                </a:solidFill>
              </a:rPr>
              <a:t>2. </a:t>
            </a:r>
            <a:r>
              <a:rPr lang="en-GB" sz="2400" b="1" dirty="0">
                <a:solidFill>
                  <a:srgbClr val="002060"/>
                </a:solidFill>
              </a:rPr>
              <a:t>Default constraint:</a:t>
            </a:r>
            <a:r>
              <a:rPr lang="en-GB" sz="2400" b="1" dirty="0"/>
              <a:t> </a:t>
            </a:r>
            <a:r>
              <a:rPr lang="en-GB" sz="2400" dirty="0"/>
              <a:t>This defines what value the column should use when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no value has been supplied explicitly</a:t>
            </a:r>
            <a:r>
              <a:rPr lang="en-GB" sz="2400" dirty="0"/>
              <a:t> when inserting a record in the table. </a:t>
            </a:r>
          </a:p>
          <a:p>
            <a:endParaRPr lang="en-GB" sz="2400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721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371600"/>
            <a:ext cx="8915400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b="1" dirty="0">
                <a:solidFill>
                  <a:schemeClr val="tx2"/>
                </a:solidFill>
              </a:rPr>
              <a:t>3. </a:t>
            </a:r>
            <a:r>
              <a:rPr lang="en-GB" sz="2800" b="1" dirty="0" err="1">
                <a:solidFill>
                  <a:schemeClr val="tx2"/>
                </a:solidFill>
              </a:rPr>
              <a:t>Nullability</a:t>
            </a:r>
            <a:r>
              <a:rPr lang="en-GB" sz="2800" b="1" dirty="0">
                <a:solidFill>
                  <a:schemeClr val="tx2"/>
                </a:solidFill>
              </a:rPr>
              <a:t> constraint</a:t>
            </a:r>
            <a:r>
              <a:rPr lang="en-GB" sz="2400" b="1" dirty="0">
                <a:solidFill>
                  <a:schemeClr val="tx2"/>
                </a:solidFill>
              </a:rPr>
              <a:t>: </a:t>
            </a:r>
            <a:r>
              <a:rPr lang="en-GB" sz="2400" dirty="0"/>
              <a:t>This defines that if a column is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NOT NULL or allow NULL </a:t>
            </a:r>
            <a:r>
              <a:rPr lang="en-GB" sz="2400" dirty="0"/>
              <a:t>values to be stored in it. 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800" b="1" dirty="0">
                <a:solidFill>
                  <a:schemeClr val="tx2"/>
                </a:solidFill>
              </a:rPr>
              <a:t>4. Primary key constraint: </a:t>
            </a:r>
            <a:r>
              <a:rPr lang="en-GB" sz="2400" dirty="0"/>
              <a:t>This is the unique identifier of the </a:t>
            </a:r>
            <a:r>
              <a:rPr lang="en-GB" sz="2400" dirty="0" err="1"/>
              <a:t>table.The</a:t>
            </a:r>
            <a:r>
              <a:rPr lang="en-GB" sz="2400" dirty="0"/>
              <a:t> primary key can be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either a sequentially incremented integer number or a natural selection of data</a:t>
            </a:r>
            <a:r>
              <a:rPr lang="en-GB" sz="2400" dirty="0"/>
              <a:t> that represents what is happening in the real world. NULL values are not allowed in primary key values. 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800" b="1" dirty="0">
                <a:solidFill>
                  <a:schemeClr val="tx2"/>
                </a:solidFill>
              </a:rPr>
              <a:t>5. Foreign key constraint</a:t>
            </a:r>
            <a:r>
              <a:rPr lang="en-GB" sz="2400" b="1" dirty="0"/>
              <a:t>: </a:t>
            </a:r>
            <a:r>
              <a:rPr lang="en-GB" sz="2400" dirty="0"/>
              <a:t>This defines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how referential integrity </a:t>
            </a:r>
            <a:r>
              <a:rPr lang="en-GB" sz="2400" dirty="0"/>
              <a:t>is enforced between two tables. 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99080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90800"/>
            <a:ext cx="92964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b="1" dirty="0">
                <a:solidFill>
                  <a:schemeClr val="tx2"/>
                </a:solidFill>
              </a:rPr>
              <a:t>6. Unique constraint</a:t>
            </a:r>
            <a:r>
              <a:rPr lang="en-GB" sz="2800" b="1" i="1" dirty="0"/>
              <a:t>:</a:t>
            </a:r>
            <a:r>
              <a:rPr lang="en-GB" sz="2400" b="1" i="1" dirty="0"/>
              <a:t> </a:t>
            </a:r>
            <a:r>
              <a:rPr lang="en-GB" sz="2400" i="1" dirty="0"/>
              <a:t>This defines that the values in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a column must be unique and no duplicates </a:t>
            </a:r>
            <a:r>
              <a:rPr lang="en-GB" sz="2400" i="1" dirty="0"/>
              <a:t>should be stored. Sometimes the data in a column must be unique even though the column does not act as Primary Key of the table. </a:t>
            </a:r>
          </a:p>
          <a:p>
            <a:endParaRPr lang="en-GB" sz="2400" i="1" dirty="0"/>
          </a:p>
          <a:p>
            <a:endParaRPr lang="en-GB" sz="2400" dirty="0"/>
          </a:p>
          <a:p>
            <a:r>
              <a:rPr lang="en-GB" sz="2800" b="1" dirty="0">
                <a:solidFill>
                  <a:schemeClr val="tx2"/>
                </a:solidFill>
              </a:rPr>
              <a:t>7. Check constraint:</a:t>
            </a:r>
            <a:r>
              <a:rPr lang="en-GB" sz="2400" b="1" dirty="0"/>
              <a:t> </a:t>
            </a:r>
            <a:r>
              <a:rPr lang="en-GB" sz="2400" dirty="0"/>
              <a:t>This defines a validation rule for the data values in a column so it is a user-defined data integrity constraint. This rule is defined </a:t>
            </a:r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by the user when designing the column in a table.</a:t>
            </a:r>
            <a:r>
              <a:rPr lang="en-GB" sz="2400" dirty="0"/>
              <a:t> </a:t>
            </a:r>
          </a:p>
          <a:p>
            <a:r>
              <a:rPr lang="en-GB" sz="240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14514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06920"/>
            <a:ext cx="91440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accent5">
                    <a:lumMod val="50000"/>
                  </a:schemeClr>
                </a:solidFill>
              </a:rPr>
              <a:t>3.4 Querying Relational Data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dirty="0"/>
              <a:t>A relational database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query is a question about the data,</a:t>
            </a:r>
            <a:r>
              <a:rPr lang="en-GB" sz="2400" dirty="0"/>
              <a:t> and the </a:t>
            </a:r>
            <a:r>
              <a:rPr lang="en-GB" sz="2400" b="1" dirty="0">
                <a:solidFill>
                  <a:schemeClr val="accent6">
                    <a:lumMod val="75000"/>
                  </a:schemeClr>
                </a:solidFill>
              </a:rPr>
              <a:t>answer consists of a new relation</a:t>
            </a:r>
            <a:r>
              <a:rPr lang="en-GB" sz="2400" dirty="0"/>
              <a:t> containing the result. 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dirty="0"/>
              <a:t>A query language is a specialized language for writing queries. </a:t>
            </a:r>
          </a:p>
          <a:p>
            <a:pPr marL="342900" indent="-342900">
              <a:buFont typeface="Wingdings" pitchFamily="2" charset="2"/>
              <a:buChar char="v"/>
            </a:pPr>
            <a:r>
              <a:rPr lang="en-GB" sz="2400" dirty="0"/>
              <a:t>SQL is the most popular commercial query language for a relational DBMS.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For example</a:t>
            </a:r>
            <a:r>
              <a:rPr lang="en-US" sz="2400" dirty="0"/>
              <a:t>, we might want to find all students AGE less than 18 or all students enrolled in particular course.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SELECT * FROM Students WHERE age &lt; 18;</a:t>
            </a:r>
          </a:p>
          <a:p>
            <a:pPr marL="514350" indent="-514350">
              <a:buFont typeface="+mj-lt"/>
              <a:buAutoNum type="romanUcPeriod"/>
            </a:pPr>
            <a:endParaRPr lang="en-US" sz="2400" dirty="0"/>
          </a:p>
          <a:p>
            <a:pPr marL="514350" indent="-514350">
              <a:buFont typeface="+mj-lt"/>
              <a:buAutoNum type="romanUcPeriod"/>
            </a:pPr>
            <a:r>
              <a:rPr lang="en-US" sz="2400" dirty="0"/>
              <a:t>SELECT </a:t>
            </a:r>
            <a:r>
              <a:rPr lang="en-US" sz="2400" dirty="0" err="1"/>
              <a:t>ID,FirstName</a:t>
            </a:r>
            <a:r>
              <a:rPr lang="en-US" sz="2400" dirty="0"/>
              <a:t> FROM Students WHERE age &lt; 18;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22013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7BCA-4FD2-055F-BBEF-C2B8FB5C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C966B-707A-3FD6-EA7D-6938619D0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b="1" i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statement is used to </a:t>
            </a:r>
            <a:r>
              <a:rPr lang="en-US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fetch the data from a database table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which returns this data in the form of a result table. These result tables are called result-sets.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Ex: 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column1, column2, ... FROM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IN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table_name</a:t>
            </a:r>
            <a:r>
              <a:rPr lang="en-IN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80435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0"/>
            <a:ext cx="94488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>
                    <a:lumMod val="50000"/>
                  </a:schemeClr>
                </a:solidFill>
              </a:rPr>
              <a:t>LOGICAL DATABASE DESIGN </a:t>
            </a:r>
            <a:endParaRPr lang="en-GB" sz="32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GB" sz="2800" dirty="0"/>
              <a:t>1.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Each entity in the ER model will become a table</a:t>
            </a:r>
            <a:r>
              <a:rPr lang="en-GB" sz="2800" dirty="0"/>
              <a:t> and all attributes of that entity will become columns of the table. </a:t>
            </a:r>
            <a:r>
              <a:rPr lang="en-GB" sz="2800" b="1" i="1" dirty="0">
                <a:solidFill>
                  <a:schemeClr val="tx2">
                    <a:lumMod val="50000"/>
                  </a:schemeClr>
                </a:solidFill>
              </a:rPr>
              <a:t>Key attribute of the entity will become primary key in the table</a:t>
            </a:r>
            <a:r>
              <a:rPr lang="en-GB" sz="2800" dirty="0"/>
              <a:t>.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62" y="3339882"/>
            <a:ext cx="9149862" cy="3518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94780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1760660"/>
            <a:ext cx="9461373" cy="5325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1698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76400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400" dirty="0"/>
              <a:t>2. </a:t>
            </a:r>
            <a:r>
              <a:rPr lang="en-GB" sz="2400" b="1" i="1" dirty="0">
                <a:solidFill>
                  <a:schemeClr val="tx2">
                    <a:lumMod val="50000"/>
                  </a:schemeClr>
                </a:solidFill>
              </a:rPr>
              <a:t>Each relationship in the ER model will become a table. </a:t>
            </a:r>
            <a:r>
              <a:rPr lang="en-GB" sz="2400" dirty="0"/>
              <a:t>Key attributes of participating entities in the relationship will become columns of the table. If the relationship has any attributes, then they also will become columns of the table. </a:t>
            </a:r>
          </a:p>
          <a:p>
            <a:r>
              <a:rPr lang="en-GB" sz="2400" b="1" dirty="0"/>
              <a:t>Example: </a:t>
            </a:r>
            <a:r>
              <a:rPr lang="en-GB" sz="2400" dirty="0"/>
              <a:t>From the above ER diagram, the </a:t>
            </a:r>
            <a:r>
              <a:rPr lang="en-GB" sz="2400" dirty="0" err="1"/>
              <a:t>Works_In</a:t>
            </a:r>
            <a:r>
              <a:rPr lang="en-GB" sz="2400" dirty="0"/>
              <a:t> relationship converted as </a:t>
            </a: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62" y="4261722"/>
            <a:ext cx="9149862" cy="2596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2846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23950"/>
            <a:ext cx="9354888" cy="581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581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00"/>
            <a:ext cx="93726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dirty="0"/>
              <a:t>3. Any </a:t>
            </a:r>
            <a:r>
              <a:rPr lang="en-GB" sz="2800" b="1" dirty="0"/>
              <a:t>multi-valued attribute </a:t>
            </a:r>
            <a:r>
              <a:rPr lang="en-GB" sz="2800" dirty="0"/>
              <a:t>is converted </a:t>
            </a:r>
            <a:r>
              <a:rPr lang="en-GB" sz="2800" b="1" i="1" dirty="0">
                <a:solidFill>
                  <a:schemeClr val="tx2">
                    <a:lumMod val="50000"/>
                  </a:schemeClr>
                </a:solidFill>
              </a:rPr>
              <a:t>into new table</a:t>
            </a:r>
            <a:r>
              <a:rPr lang="en-GB" sz="2800" dirty="0"/>
              <a:t>. The </a:t>
            </a:r>
            <a:r>
              <a:rPr lang="en-GB" sz="2800" b="1" i="1" dirty="0">
                <a:solidFill>
                  <a:schemeClr val="tx2">
                    <a:lumMod val="50000"/>
                  </a:schemeClr>
                </a:solidFill>
              </a:rPr>
              <a:t>primary key of the entity will be added as column in the new table.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85" y="2804993"/>
            <a:ext cx="9829100" cy="4053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350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8"/>
            <a:ext cx="9201150" cy="5357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5550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2600"/>
            <a:ext cx="91440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dirty="0"/>
              <a:t>4. Each </a:t>
            </a:r>
            <a:r>
              <a:rPr lang="en-GB" sz="3200" b="1" i="1" dirty="0">
                <a:solidFill>
                  <a:schemeClr val="tx2">
                    <a:lumMod val="50000"/>
                  </a:schemeClr>
                </a:solidFill>
              </a:rPr>
              <a:t>weak entity </a:t>
            </a:r>
            <a:r>
              <a:rPr lang="en-GB" sz="2800" dirty="0"/>
              <a:t>is converted into a table with all its attributes as columns and </a:t>
            </a:r>
            <a:r>
              <a:rPr lang="en-GB" sz="3200" b="1" i="1" dirty="0">
                <a:solidFill>
                  <a:schemeClr val="tx2">
                    <a:lumMod val="50000"/>
                  </a:schemeClr>
                </a:solidFill>
              </a:rPr>
              <a:t>primary key of the strong entity acts as a foreign key in this table.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3593396"/>
            <a:ext cx="9340663" cy="3264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4627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9144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2276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89159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INTRODUCTION TO VIEWS </a:t>
            </a:r>
            <a:endParaRPr lang="en-GB" sz="2800" dirty="0">
              <a:solidFill>
                <a:schemeClr val="tx2">
                  <a:lumMod val="50000"/>
                </a:schemeClr>
              </a:solidFill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A view is virtual tables </a:t>
            </a:r>
            <a:r>
              <a:rPr lang="en-GB" sz="2800" dirty="0"/>
              <a:t>whose rows are not explicitly stored in the database 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They are used to restrict access to the database or to hide data complexity.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A view contains rows and columns, just like a real table.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Creating a view does not take any storage space</a:t>
            </a:r>
            <a:r>
              <a:rPr lang="en-GB" sz="2800" dirty="0"/>
              <a:t> as only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the view query is stored in the data dictionary</a:t>
            </a:r>
            <a:r>
              <a:rPr lang="en-GB" sz="2800" dirty="0"/>
              <a:t> and the actual data is not stored.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 tables referred in the views are known as Base tables.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Views do not contain data of their own.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They take data from the base tables. </a:t>
            </a:r>
          </a:p>
        </p:txBody>
      </p:sp>
    </p:spTree>
    <p:extLst>
      <p:ext uri="{BB962C8B-B14F-4D97-AF65-F5344CB8AC3E}">
        <p14:creationId xmlns:p14="http://schemas.microsoft.com/office/powerpoint/2010/main" val="2483779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33465"/>
            <a:ext cx="91440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>
                    <a:lumMod val="75000"/>
                  </a:schemeClr>
                </a:solidFill>
              </a:rPr>
              <a:t>The reasons for using views are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2800" dirty="0"/>
              <a:t>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Security is increased </a:t>
            </a:r>
            <a:r>
              <a:rPr lang="en-GB" sz="2800" dirty="0"/>
              <a:t>- sensitive information can be excluded from a view.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2800" dirty="0"/>
              <a:t> Views can represent a subset of the data contained in a table.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2800" dirty="0"/>
              <a:t> Views can join and simplify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multiple tables into a single </a:t>
            </a:r>
            <a:r>
              <a:rPr lang="en-GB" sz="2800" dirty="0"/>
              <a:t>virtual table.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2800" dirty="0"/>
              <a:t>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Views take very little space to store</a:t>
            </a:r>
            <a:r>
              <a:rPr lang="en-GB" sz="2800" dirty="0"/>
              <a:t>; the database contains only the definition of a view, not a copy of all the data it presents. </a:t>
            </a:r>
          </a:p>
          <a:p>
            <a:pPr marL="285750" indent="-285750">
              <a:buFont typeface="Wingdings" pitchFamily="2" charset="2"/>
              <a:buChar char="v"/>
            </a:pPr>
            <a:r>
              <a:rPr lang="en-GB" sz="2800" dirty="0"/>
              <a:t> Different views can be 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</a:rPr>
              <a:t>created on the same base table </a:t>
            </a:r>
            <a:r>
              <a:rPr lang="en-GB" sz="2800" dirty="0"/>
              <a:t>for different categories of users. </a:t>
            </a:r>
          </a:p>
        </p:txBody>
      </p:sp>
    </p:spTree>
    <p:extLst>
      <p:ext uri="{BB962C8B-B14F-4D97-AF65-F5344CB8AC3E}">
        <p14:creationId xmlns:p14="http://schemas.microsoft.com/office/powerpoint/2010/main" val="25677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3722" y="3276600"/>
            <a:ext cx="529592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000066"/>
                </a:solidFill>
                <a:latin typeface="Agency FB" pitchFamily="34" charset="0"/>
              </a:rPr>
              <a:t>Creating Views syntax</a:t>
            </a:r>
            <a:r>
              <a:rPr lang="en-GB" sz="4000" b="1" dirty="0">
                <a:solidFill>
                  <a:srgbClr val="000066"/>
                </a:solidFill>
              </a:rPr>
              <a:t>: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23" y="4191000"/>
            <a:ext cx="7887891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586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9448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154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308" y="2287054"/>
            <a:ext cx="9173308" cy="4570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9046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8580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>
                    <a:lumMod val="75000"/>
                  </a:schemeClr>
                </a:solidFill>
              </a:rPr>
              <a:t>When can insertion, delete or update performed on view?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 view is defined from one and only one table.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view must include the PRIMARY KEY of the base table.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base table columns which are not part of view should not have NOT NULL constraint.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view should not have any field made out of aggregate functions.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view must not have any DISTINCT clause in its definition.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view must not have any GROUP BY or HAVING clause in its definition.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 The view must not have any SUBQUERIES in its definitions. </a:t>
            </a:r>
          </a:p>
        </p:txBody>
      </p:sp>
    </p:spTree>
    <p:extLst>
      <p:ext uri="{BB962C8B-B14F-4D97-AF65-F5344CB8AC3E}">
        <p14:creationId xmlns:p14="http://schemas.microsoft.com/office/powerpoint/2010/main" val="4768815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446" y="4343400"/>
            <a:ext cx="9144000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000" dirty="0"/>
              <a:t>INSERT INTO </a:t>
            </a:r>
            <a:r>
              <a:rPr lang="en-GB" sz="2000" dirty="0" err="1"/>
              <a:t>CustomerActiveView</a:t>
            </a:r>
            <a:r>
              <a:rPr lang="en-GB" sz="2000" dirty="0"/>
              <a:t> (</a:t>
            </a:r>
            <a:r>
              <a:rPr lang="en-GB" sz="2000" dirty="0" err="1"/>
              <a:t>CustomerID</a:t>
            </a:r>
            <a:r>
              <a:rPr lang="en-GB" sz="2000" dirty="0"/>
              <a:t>, </a:t>
            </a:r>
            <a:r>
              <a:rPr lang="en-GB" sz="2000" dirty="0" err="1"/>
              <a:t>CustomerName</a:t>
            </a:r>
            <a:r>
              <a:rPr lang="en-GB" sz="2000" dirty="0"/>
              <a:t>, </a:t>
            </a:r>
            <a:r>
              <a:rPr lang="en-GB" sz="2000" dirty="0" err="1"/>
              <a:t>PhoneNumber</a:t>
            </a:r>
            <a:r>
              <a:rPr lang="en-GB" sz="2000" dirty="0"/>
              <a:t>) </a:t>
            </a:r>
            <a:br>
              <a:rPr lang="en-GB" sz="2000" dirty="0"/>
            </a:br>
            <a:r>
              <a:rPr lang="en-GB" sz="2000" dirty="0"/>
              <a:t>VALUES (123, 'John Doe', '555-1234');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981200"/>
            <a:ext cx="914400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2800" b="1" dirty="0"/>
              <a:t>Inserting Rows into a View: </a:t>
            </a:r>
            <a:r>
              <a:rPr lang="en-GB" sz="2800" dirty="0"/>
              <a:t>A new row can be inserted into a view in a similar way as you insert them in a table. When an insert operation performed on view, first a new row is inserted into the base table and the same is reflected in the view. </a:t>
            </a:r>
          </a:p>
        </p:txBody>
      </p:sp>
    </p:spTree>
    <p:extLst>
      <p:ext uri="{BB962C8B-B14F-4D97-AF65-F5344CB8AC3E}">
        <p14:creationId xmlns:p14="http://schemas.microsoft.com/office/powerpoint/2010/main" val="2851946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862" y="2765286"/>
            <a:ext cx="7890493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1: Create the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First, let's create a simple table. We’ll create a table called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505200"/>
            <a:ext cx="6858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CREATE TABLE products (</a:t>
            </a:r>
          </a:p>
          <a:p>
            <a:r>
              <a:rPr lang="en-GB" sz="3200" dirty="0"/>
              <a:t>    </a:t>
            </a:r>
            <a:r>
              <a:rPr lang="en-GB" sz="3200" dirty="0" err="1"/>
              <a:t>product_id</a:t>
            </a:r>
            <a:r>
              <a:rPr lang="en-GB" sz="3200" dirty="0"/>
              <a:t> INT PRIMARY KEY,</a:t>
            </a:r>
          </a:p>
          <a:p>
            <a:r>
              <a:rPr lang="en-GB" sz="3200" dirty="0"/>
              <a:t>    </a:t>
            </a:r>
            <a:r>
              <a:rPr lang="en-GB" sz="3200" dirty="0" err="1"/>
              <a:t>product_name</a:t>
            </a:r>
            <a:r>
              <a:rPr lang="en-GB" sz="3200" dirty="0"/>
              <a:t> VARCHAR(100),</a:t>
            </a:r>
          </a:p>
          <a:p>
            <a:r>
              <a:rPr lang="en-GB" sz="3200" dirty="0"/>
              <a:t>    price DECIMAL(10, 2)</a:t>
            </a:r>
          </a:p>
          <a:p>
            <a:r>
              <a:rPr lang="en-GB" sz="3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92321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808947"/>
            <a:ext cx="818198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2: Insert Some Data into the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Next, let’s insert some data into the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</a:t>
            </a:r>
            <a:r>
              <a: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3047999"/>
            <a:ext cx="6553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INSERT INTO products (</a:t>
            </a:r>
            <a:r>
              <a:rPr lang="en-GB" sz="2800" dirty="0" err="1"/>
              <a:t>product_id</a:t>
            </a:r>
            <a:r>
              <a:rPr lang="en-GB" sz="2800" dirty="0"/>
              <a:t>, </a:t>
            </a:r>
            <a:r>
              <a:rPr lang="en-GB" sz="2800" dirty="0" err="1"/>
              <a:t>product_name</a:t>
            </a:r>
            <a:r>
              <a:rPr lang="en-GB" sz="2800" dirty="0"/>
              <a:t>, price)</a:t>
            </a:r>
          </a:p>
          <a:p>
            <a:r>
              <a:rPr lang="en-GB" sz="2800" dirty="0"/>
              <a:t>VALUES</a:t>
            </a:r>
          </a:p>
          <a:p>
            <a:r>
              <a:rPr lang="en-GB" sz="2800" dirty="0"/>
              <a:t>    (1, 'Laptop', 899.99),</a:t>
            </a:r>
          </a:p>
          <a:p>
            <a:r>
              <a:rPr lang="en-GB" sz="2800" dirty="0"/>
              <a:t>    (2, 'Smartphone', 499.99),</a:t>
            </a:r>
          </a:p>
          <a:p>
            <a:r>
              <a:rPr lang="en-GB" sz="2800" dirty="0"/>
              <a:t>    (3, 'Headphones', 89.99);</a:t>
            </a:r>
          </a:p>
        </p:txBody>
      </p:sp>
    </p:spTree>
    <p:extLst>
      <p:ext uri="{BB962C8B-B14F-4D97-AF65-F5344CB8AC3E}">
        <p14:creationId xmlns:p14="http://schemas.microsoft.com/office/powerpoint/2010/main" val="15969177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700481"/>
            <a:ext cx="914731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3: Create a Simple 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Now, let's create a simple view that selects all columns from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Since the view only selects from one table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does not involve any complex operations, it will be updatable.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3276599"/>
            <a:ext cx="670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CREATE VIEW </a:t>
            </a:r>
            <a:r>
              <a:rPr lang="en-GB" sz="2400" dirty="0" err="1"/>
              <a:t>product_view</a:t>
            </a:r>
            <a:r>
              <a:rPr lang="en-GB" sz="2400" dirty="0"/>
              <a:t> AS</a:t>
            </a:r>
          </a:p>
          <a:p>
            <a:r>
              <a:rPr lang="en-GB" sz="2400" dirty="0"/>
              <a:t>SELECT </a:t>
            </a:r>
            <a:r>
              <a:rPr lang="en-GB" sz="2400" dirty="0" err="1"/>
              <a:t>product_id</a:t>
            </a:r>
            <a:r>
              <a:rPr lang="en-GB" sz="2400" dirty="0"/>
              <a:t>, </a:t>
            </a:r>
            <a:r>
              <a:rPr lang="en-GB" sz="2400" dirty="0" err="1"/>
              <a:t>product_name</a:t>
            </a:r>
            <a:r>
              <a:rPr lang="en-GB" sz="2400" dirty="0"/>
              <a:t>, price</a:t>
            </a:r>
          </a:p>
          <a:p>
            <a:r>
              <a:rPr lang="en-GB" sz="2400" dirty="0"/>
              <a:t>FROM products;</a:t>
            </a:r>
          </a:p>
        </p:txBody>
      </p:sp>
    </p:spTree>
    <p:extLst>
      <p:ext uri="{BB962C8B-B14F-4D97-AF65-F5344CB8AC3E}">
        <p14:creationId xmlns:p14="http://schemas.microsoft.com/office/powerpoint/2010/main" val="40334625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2387769"/>
            <a:ext cx="871584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4: Insert Data via the 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Since the view is updatable, we can insert new data into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using the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product_view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view.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42672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2400" dirty="0"/>
              <a:t>INSERT INTO </a:t>
            </a:r>
            <a:r>
              <a:rPr lang="en-GB" sz="2400" dirty="0" err="1"/>
              <a:t>product_view</a:t>
            </a:r>
            <a:r>
              <a:rPr lang="en-GB" sz="2400" dirty="0"/>
              <a:t> (</a:t>
            </a:r>
            <a:r>
              <a:rPr lang="en-GB" sz="2400" dirty="0" err="1"/>
              <a:t>product_id</a:t>
            </a:r>
            <a:r>
              <a:rPr lang="en-GB" sz="2400" dirty="0"/>
              <a:t>, </a:t>
            </a:r>
            <a:r>
              <a:rPr lang="en-GB" sz="2400" dirty="0" err="1"/>
              <a:t>product_name</a:t>
            </a:r>
            <a:r>
              <a:rPr lang="en-GB" sz="2400" dirty="0"/>
              <a:t>, price)</a:t>
            </a:r>
          </a:p>
          <a:p>
            <a:r>
              <a:rPr lang="en-GB" sz="2400" dirty="0"/>
              <a:t>VALUES (4, 'Keyboard', 29.99);</a:t>
            </a:r>
          </a:p>
        </p:txBody>
      </p:sp>
    </p:spTree>
    <p:extLst>
      <p:ext uri="{BB962C8B-B14F-4D97-AF65-F5344CB8AC3E}">
        <p14:creationId xmlns:p14="http://schemas.microsoft.com/office/powerpoint/2010/main" val="1077504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7139" y="2012631"/>
            <a:ext cx="9049721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5: Verify the Insert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Now, let’s verify that the new product has been inserted into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by selecting from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products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 directly: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6800" y="3181419"/>
            <a:ext cx="48000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tx2">
                    <a:lumMod val="50000"/>
                  </a:schemeClr>
                </a:solidFill>
              </a:rPr>
              <a:t>SELECT * FROM products;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9144000" cy="273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0037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0200"/>
            <a:ext cx="10134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Here’s an example of how to insert data into a table using a </a:t>
            </a:r>
            <a:r>
              <a:rPr lang="en-GB" sz="2400" b="1" dirty="0"/>
              <a:t>view</a:t>
            </a:r>
            <a:r>
              <a:rPr lang="en-GB" sz="2400" dirty="0"/>
              <a:t>:</a:t>
            </a:r>
          </a:p>
          <a:p>
            <a:r>
              <a:rPr lang="en-GB" sz="2400" b="1" dirty="0"/>
              <a:t>Step 1: Create the Base Tables</a:t>
            </a:r>
          </a:p>
          <a:p>
            <a:r>
              <a:rPr lang="en-GB" sz="2400" dirty="0"/>
              <a:t>Let's assume we have two tables: employees and departments.</a:t>
            </a:r>
          </a:p>
          <a:p>
            <a:endParaRPr lang="en-GB" dirty="0"/>
          </a:p>
        </p:txBody>
      </p:sp>
      <p:sp>
        <p:nvSpPr>
          <p:cNvPr id="3" name="Rectangle 2"/>
          <p:cNvSpPr/>
          <p:nvPr/>
        </p:nvSpPr>
        <p:spPr>
          <a:xfrm>
            <a:off x="457200" y="3077528"/>
            <a:ext cx="7391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2000" dirty="0"/>
              <a:t>Create Employees Table</a:t>
            </a:r>
          </a:p>
          <a:p>
            <a:r>
              <a:rPr lang="en-GB" sz="2000" dirty="0"/>
              <a:t>CREATE TABLE employees (</a:t>
            </a:r>
          </a:p>
          <a:p>
            <a:r>
              <a:rPr lang="en-GB" sz="2000" dirty="0"/>
              <a:t>    </a:t>
            </a:r>
            <a:r>
              <a:rPr lang="en-GB" sz="2000" dirty="0" err="1"/>
              <a:t>emp_id</a:t>
            </a:r>
            <a:r>
              <a:rPr lang="en-GB" sz="2000" dirty="0"/>
              <a:t> INT PRIMARY KEY,</a:t>
            </a:r>
          </a:p>
          <a:p>
            <a:r>
              <a:rPr lang="en-GB" sz="2000" dirty="0"/>
              <a:t>    </a:t>
            </a:r>
            <a:r>
              <a:rPr lang="en-GB" sz="2000" dirty="0" err="1"/>
              <a:t>emp_name</a:t>
            </a:r>
            <a:r>
              <a:rPr lang="en-GB" sz="2000" dirty="0"/>
              <a:t> VARCHAR(100),</a:t>
            </a:r>
          </a:p>
          <a:p>
            <a:r>
              <a:rPr lang="en-GB" sz="2000" dirty="0"/>
              <a:t>    </a:t>
            </a:r>
            <a:r>
              <a:rPr lang="en-GB" sz="2000" dirty="0" err="1"/>
              <a:t>department_id</a:t>
            </a:r>
            <a:r>
              <a:rPr lang="en-GB" sz="2000" dirty="0"/>
              <a:t> INT</a:t>
            </a:r>
          </a:p>
          <a:p>
            <a:r>
              <a:rPr lang="en-GB" sz="2000" dirty="0"/>
              <a:t>);</a:t>
            </a:r>
          </a:p>
          <a:p>
            <a:endParaRPr lang="en-GB" sz="2000" dirty="0"/>
          </a:p>
          <a:p>
            <a:r>
              <a:rPr lang="en-GB" sz="2000" dirty="0"/>
              <a:t>Create Departments Table</a:t>
            </a:r>
          </a:p>
          <a:p>
            <a:r>
              <a:rPr lang="en-GB" sz="2000" dirty="0"/>
              <a:t>CREATE TABLE departments (</a:t>
            </a:r>
          </a:p>
          <a:p>
            <a:r>
              <a:rPr lang="en-GB" sz="2000" dirty="0"/>
              <a:t>    </a:t>
            </a:r>
            <a:r>
              <a:rPr lang="en-GB" sz="2000" dirty="0" err="1"/>
              <a:t>dept_id</a:t>
            </a:r>
            <a:r>
              <a:rPr lang="en-GB" sz="2000" dirty="0"/>
              <a:t> INT PRIMARY KEY,</a:t>
            </a:r>
          </a:p>
          <a:p>
            <a:r>
              <a:rPr lang="en-GB" sz="2000" dirty="0"/>
              <a:t>    </a:t>
            </a:r>
            <a:r>
              <a:rPr lang="en-GB" sz="2000" dirty="0" err="1"/>
              <a:t>dept_name</a:t>
            </a:r>
            <a:r>
              <a:rPr lang="en-GB" sz="2000" dirty="0"/>
              <a:t> VARCHAR(100)</a:t>
            </a:r>
          </a:p>
          <a:p>
            <a:r>
              <a:rPr lang="en-GB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1524075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486544"/>
            <a:ext cx="89873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2: Create a 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Now, let's create a view that combines information from both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employees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and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departments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" y="2692735"/>
            <a:ext cx="6858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CREATE VIEW </a:t>
            </a:r>
            <a:r>
              <a:rPr lang="en-GB" sz="3200" dirty="0" err="1"/>
              <a:t>employee_details</a:t>
            </a:r>
            <a:r>
              <a:rPr lang="en-GB" sz="3200" dirty="0"/>
              <a:t> AS</a:t>
            </a:r>
          </a:p>
          <a:p>
            <a:r>
              <a:rPr lang="en-GB" sz="3200" dirty="0"/>
              <a:t>SELECT </a:t>
            </a:r>
            <a:r>
              <a:rPr lang="en-GB" sz="3200" dirty="0" err="1"/>
              <a:t>e.emp_id</a:t>
            </a:r>
            <a:r>
              <a:rPr lang="en-GB" sz="3200" dirty="0"/>
              <a:t>, </a:t>
            </a:r>
            <a:r>
              <a:rPr lang="en-GB" sz="3200" dirty="0" err="1"/>
              <a:t>e.emp_name</a:t>
            </a:r>
            <a:r>
              <a:rPr lang="en-GB" sz="3200" dirty="0"/>
              <a:t>, </a:t>
            </a:r>
            <a:r>
              <a:rPr lang="en-GB" sz="3200" dirty="0" err="1"/>
              <a:t>d.dept_name</a:t>
            </a:r>
            <a:endParaRPr lang="en-GB" sz="3200" dirty="0"/>
          </a:p>
          <a:p>
            <a:r>
              <a:rPr lang="en-GB" sz="3200" dirty="0"/>
              <a:t>FROM employees e</a:t>
            </a:r>
          </a:p>
          <a:p>
            <a:r>
              <a:rPr lang="en-GB" sz="3200" dirty="0"/>
              <a:t>JOIN departments d ON </a:t>
            </a:r>
            <a:r>
              <a:rPr lang="en-GB" sz="3200" dirty="0" err="1"/>
              <a:t>e.department_id</a:t>
            </a:r>
            <a:r>
              <a:rPr lang="en-GB" sz="3200" dirty="0"/>
              <a:t> = </a:t>
            </a:r>
            <a:r>
              <a:rPr lang="en-GB" sz="3200" dirty="0" err="1"/>
              <a:t>d.dept_id</a:t>
            </a:r>
            <a:r>
              <a:rPr lang="en-GB" sz="3200" dirty="0"/>
              <a:t>;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5664369"/>
            <a:ext cx="82687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This view 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employee_details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 will show the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employee’s ID, name, and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department name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combining the information from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employees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and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departments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tables. </a:t>
            </a:r>
          </a:p>
        </p:txBody>
      </p:sp>
    </p:spTree>
    <p:extLst>
      <p:ext uri="{BB962C8B-B14F-4D97-AF65-F5344CB8AC3E}">
        <p14:creationId xmlns:p14="http://schemas.microsoft.com/office/powerpoint/2010/main" val="15275806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849995"/>
            <a:ext cx="827848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Step 3: Insert Data into the Base Table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Now, let's insert some data into the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employees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and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departments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tables: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2590800"/>
            <a:ext cx="6553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Insert data into departments table</a:t>
            </a:r>
          </a:p>
          <a:p>
            <a:r>
              <a:rPr lang="en-GB" sz="2400" dirty="0"/>
              <a:t>INSERT INTO departments (</a:t>
            </a:r>
            <a:r>
              <a:rPr lang="en-GB" sz="2400" dirty="0" err="1"/>
              <a:t>dept_id</a:t>
            </a:r>
            <a:r>
              <a:rPr lang="en-GB" sz="2400" dirty="0"/>
              <a:t>, </a:t>
            </a:r>
            <a:r>
              <a:rPr lang="en-GB" sz="2400" dirty="0" err="1"/>
              <a:t>dept_name</a:t>
            </a:r>
            <a:r>
              <a:rPr lang="en-GB" sz="2400" dirty="0"/>
              <a:t>) VALUES (1, 'HR'), (2, 'Finance'), (3, 'IT');</a:t>
            </a:r>
          </a:p>
          <a:p>
            <a:endParaRPr lang="en-GB" sz="2400" dirty="0"/>
          </a:p>
          <a:p>
            <a:r>
              <a:rPr lang="en-GB" sz="2400" dirty="0"/>
              <a:t>Insert data into employees table</a:t>
            </a:r>
          </a:p>
          <a:p>
            <a:r>
              <a:rPr lang="en-GB" sz="2400" dirty="0"/>
              <a:t>INSERT INTO employees (</a:t>
            </a:r>
            <a:r>
              <a:rPr lang="en-GB" sz="2400" dirty="0" err="1"/>
              <a:t>emp_id</a:t>
            </a:r>
            <a:r>
              <a:rPr lang="en-GB" sz="2400" dirty="0"/>
              <a:t>, </a:t>
            </a:r>
            <a:r>
              <a:rPr lang="en-GB" sz="2400" dirty="0" err="1"/>
              <a:t>emp_name</a:t>
            </a:r>
            <a:r>
              <a:rPr lang="en-GB" sz="2400" dirty="0"/>
              <a:t>, </a:t>
            </a:r>
            <a:r>
              <a:rPr lang="en-GB" sz="2400" dirty="0" err="1"/>
              <a:t>department_id</a:t>
            </a:r>
            <a:r>
              <a:rPr lang="en-GB" sz="2400" dirty="0"/>
              <a:t>) VALUES </a:t>
            </a:r>
          </a:p>
          <a:p>
            <a:r>
              <a:rPr lang="en-GB" sz="2400" dirty="0"/>
              <a:t>(101, 'John Doe', 1), </a:t>
            </a:r>
          </a:p>
          <a:p>
            <a:r>
              <a:rPr lang="en-GB" sz="2400" dirty="0"/>
              <a:t>(102, 'Jane Smith', 2), </a:t>
            </a:r>
          </a:p>
          <a:p>
            <a:r>
              <a:rPr lang="en-GB" sz="2400" dirty="0"/>
              <a:t>(103, 'Alice Brown', 3);</a:t>
            </a:r>
          </a:p>
        </p:txBody>
      </p:sp>
    </p:spTree>
    <p:extLst>
      <p:ext uri="{BB962C8B-B14F-4D97-AF65-F5344CB8AC3E}">
        <p14:creationId xmlns:p14="http://schemas.microsoft.com/office/powerpoint/2010/main" val="34509910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9525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Step 4: Query the View</a:t>
            </a:r>
          </a:p>
          <a:p>
            <a:r>
              <a:rPr lang="en-GB" dirty="0"/>
              <a:t>You can now select from the view to see the combined data: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" y="2475131"/>
            <a:ext cx="62060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SELECT * FROM </a:t>
            </a:r>
            <a:r>
              <a:rPr lang="en-GB" sz="2800" dirty="0" err="1"/>
              <a:t>employee_details</a:t>
            </a:r>
            <a:r>
              <a:rPr lang="en-GB" sz="2800" dirty="0"/>
              <a:t>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4" y="3010074"/>
            <a:ext cx="9015046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6722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200" y="1371600"/>
            <a:ext cx="909415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You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cannot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directly insert data into a view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if the view is complex (e.g., joins multiple tables),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since it doesn’t hold data itself. It’s just a virtual representation.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However,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updatable views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allow inserts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if the view is simple enough (like a single table or with specific rules in place). 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1278" y="3581400"/>
            <a:ext cx="858279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If the view contains any aggregate functions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(e.g.,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SUM()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cs typeface="Arial" pitchFamily="34" charset="0"/>
              </a:rPr>
              <a:t>AVG()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 or joins, you won’t be able to insert data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via the view. </a:t>
            </a:r>
          </a:p>
        </p:txBody>
      </p:sp>
    </p:spTree>
    <p:extLst>
      <p:ext uri="{BB962C8B-B14F-4D97-AF65-F5344CB8AC3E}">
        <p14:creationId xmlns:p14="http://schemas.microsoft.com/office/powerpoint/2010/main" val="25417557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3009"/>
            <a:ext cx="9144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Deleting Rows into a View:</a:t>
            </a:r>
          </a:p>
          <a:p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                        </a:t>
            </a:r>
            <a:r>
              <a:rPr lang="en-GB" sz="2800" dirty="0"/>
              <a:t>A row(s) can be deleted from a view in a similar way as you delete them from a table. When an delete operation performed on view, first row(s) is/are deleted from the base table and the same is reflected in the view.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038600"/>
            <a:ext cx="9144000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Updating Rows into a View: </a:t>
            </a:r>
          </a:p>
          <a:p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                             </a:t>
            </a:r>
            <a:r>
              <a:rPr lang="en-GB" sz="2800" dirty="0"/>
              <a:t>A row(s) can be updated in a view in a similar way as you update them in a table. When an update operation performed on view, first data is updated in the base table and the same is reflected in the view. </a:t>
            </a:r>
          </a:p>
        </p:txBody>
      </p:sp>
    </p:spTree>
    <p:extLst>
      <p:ext uri="{BB962C8B-B14F-4D97-AF65-F5344CB8AC3E}">
        <p14:creationId xmlns:p14="http://schemas.microsoft.com/office/powerpoint/2010/main" val="3379936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1363"/>
            <a:ext cx="914400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3600" b="1" dirty="0">
                <a:solidFill>
                  <a:schemeClr val="tx2">
                    <a:lumMod val="75000"/>
                  </a:schemeClr>
                </a:solidFill>
              </a:rPr>
              <a:t>Dropping/Destroying View</a:t>
            </a:r>
            <a:r>
              <a:rPr lang="en-GB" sz="3600" b="1" dirty="0"/>
              <a:t>: </a:t>
            </a:r>
          </a:p>
          <a:p>
            <a:r>
              <a:rPr lang="en-GB" sz="3200" b="1" dirty="0"/>
              <a:t>                 </a:t>
            </a:r>
            <a:r>
              <a:rPr lang="en-GB" sz="3200" dirty="0"/>
              <a:t>Whenever you do not need the view anymore, we can destroy the view by using DROP command. The syntax is very simple and is given below </a:t>
            </a:r>
          </a:p>
          <a:p>
            <a:endParaRPr lang="en-GB" sz="3200" dirty="0"/>
          </a:p>
          <a:p>
            <a:r>
              <a:rPr lang="en-GB" sz="3200" dirty="0"/>
              <a:t>                 DROP VIEW </a:t>
            </a:r>
            <a:r>
              <a:rPr lang="en-GB" sz="3200" dirty="0" err="1"/>
              <a:t>view_name</a:t>
            </a:r>
            <a:r>
              <a:rPr lang="en-GB" sz="3200" dirty="0"/>
              <a:t>; </a:t>
            </a:r>
          </a:p>
          <a:p>
            <a:endParaRPr lang="en-GB" sz="3200" dirty="0"/>
          </a:p>
          <a:p>
            <a:r>
              <a:rPr lang="en-GB" sz="4000" b="1" i="1" dirty="0">
                <a:solidFill>
                  <a:schemeClr val="tx2">
                    <a:lumMod val="75000"/>
                  </a:schemeClr>
                </a:solidFill>
              </a:rPr>
              <a:t>Example:</a:t>
            </a:r>
            <a:r>
              <a:rPr lang="en-GB" sz="3200" b="1" i="1" dirty="0"/>
              <a:t> </a:t>
            </a:r>
            <a:r>
              <a:rPr lang="en-GB" sz="3200" dirty="0"/>
              <a:t>DROP VIEW </a:t>
            </a:r>
            <a:r>
              <a:rPr lang="en-GB" sz="3200" dirty="0" err="1"/>
              <a:t>emp</a:t>
            </a:r>
            <a:r>
              <a:rPr lang="en-GB" sz="32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242005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400"/>
            <a:ext cx="91440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>
                    <a:lumMod val="50000"/>
                  </a:schemeClr>
                </a:solidFill>
              </a:rPr>
              <a:t>RELATIONAL ALGEBRA </a:t>
            </a:r>
          </a:p>
          <a:p>
            <a:r>
              <a:rPr lang="en-GB" sz="2400" b="1" dirty="0"/>
              <a:t>Relational Algebra is procedural query language, which takes Relation as input and generates relation as output. Relational algebra mainly provides theoretical foundation for relational databases and SQL.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5" y="2607171"/>
            <a:ext cx="9105900" cy="439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69156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162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Select Operation (σ):</a:t>
            </a:r>
            <a:r>
              <a:rPr lang="en-GB" sz="2400" b="1" dirty="0"/>
              <a:t> </a:t>
            </a:r>
            <a:r>
              <a:rPr lang="en-GB" sz="2400" dirty="0"/>
              <a:t>It selects tuples that satisfy the given predicate from a relation.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Notation :</a:t>
            </a:r>
            <a:r>
              <a:rPr lang="en-GB" sz="2400" b="1" dirty="0"/>
              <a:t> </a:t>
            </a:r>
            <a:r>
              <a:rPr lang="en-GB" sz="2400" b="1" dirty="0" err="1"/>
              <a:t>σp</a:t>
            </a:r>
            <a:r>
              <a:rPr lang="en-GB" sz="2400" b="1" dirty="0"/>
              <a:t>(r) </a:t>
            </a:r>
            <a:endParaRPr lang="en-GB" sz="2400" dirty="0"/>
          </a:p>
          <a:p>
            <a:r>
              <a:rPr lang="en-GB" sz="2400" dirty="0"/>
              <a:t>where σ stands for selecting tuples (rows) and r stands for relation (table) name.</a:t>
            </a:r>
          </a:p>
          <a:p>
            <a:r>
              <a:rPr lang="en-GB" sz="2400" dirty="0"/>
              <a:t> </a:t>
            </a:r>
            <a:r>
              <a:rPr lang="en-GB" sz="2400" i="1" dirty="0"/>
              <a:t>p </a:t>
            </a:r>
            <a:r>
              <a:rPr lang="en-GB" sz="2400" dirty="0"/>
              <a:t>is prepositional logic formula which may use connectors like </a:t>
            </a:r>
            <a:r>
              <a:rPr lang="en-GB" sz="2400" b="1" i="1" dirty="0"/>
              <a:t>and, or</a:t>
            </a:r>
            <a:r>
              <a:rPr lang="en-GB" sz="2400" dirty="0"/>
              <a:t>, and </a:t>
            </a:r>
            <a:r>
              <a:rPr lang="en-GB" sz="2400" b="1" i="1" dirty="0"/>
              <a:t>not</a:t>
            </a:r>
            <a:r>
              <a:rPr lang="en-GB" sz="2400" dirty="0"/>
              <a:t>. </a:t>
            </a:r>
          </a:p>
          <a:p>
            <a:r>
              <a:rPr lang="en-GB" sz="2400" dirty="0"/>
              <a:t>These terms may use relational operators like </a:t>
            </a:r>
            <a:r>
              <a:rPr lang="en-GB" sz="2400" b="1" i="1" dirty="0"/>
              <a:t>= , ≠ , ≥ , &lt; , &gt; , ≤ . </a:t>
            </a:r>
            <a:endParaRPr lang="en-GB" sz="2400" dirty="0"/>
          </a:p>
          <a:p>
            <a:r>
              <a:rPr lang="en-GB" sz="2800" b="1" dirty="0">
                <a:solidFill>
                  <a:schemeClr val="tx2"/>
                </a:solidFill>
              </a:rPr>
              <a:t>Example 1: </a:t>
            </a:r>
            <a:r>
              <a:rPr lang="en-GB" sz="2400" dirty="0" err="1"/>
              <a:t>σsubject</a:t>
            </a:r>
            <a:r>
              <a:rPr lang="en-GB" sz="2400" dirty="0"/>
              <a:t> = "database"(Books)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Output : </a:t>
            </a:r>
            <a:r>
              <a:rPr lang="en-GB" sz="2400" dirty="0"/>
              <a:t>Selects rows whose subject is 'database' from books table.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Example 2:</a:t>
            </a:r>
            <a:r>
              <a:rPr lang="en-GB" sz="2400" b="1" dirty="0"/>
              <a:t> </a:t>
            </a:r>
            <a:r>
              <a:rPr lang="en-GB" sz="2400" dirty="0"/>
              <a:t>σ subject = "database" and price = "450"(Books)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Output :</a:t>
            </a:r>
            <a:r>
              <a:rPr lang="en-GB" sz="2400" dirty="0"/>
              <a:t> Selects rows from books where subject is 'database' and 'price' is 450. </a:t>
            </a:r>
          </a:p>
        </p:txBody>
      </p:sp>
    </p:spTree>
    <p:extLst>
      <p:ext uri="{BB962C8B-B14F-4D97-AF65-F5344CB8AC3E}">
        <p14:creationId xmlns:p14="http://schemas.microsoft.com/office/powerpoint/2010/main" val="40322584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47800"/>
            <a:ext cx="89154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Example 1</a:t>
            </a:r>
            <a:r>
              <a:rPr lang="en-GB" sz="2400" dirty="0"/>
              <a:t>: </a:t>
            </a:r>
            <a:r>
              <a:rPr lang="en-GB" sz="4400" dirty="0" err="1"/>
              <a:t>σsubject</a:t>
            </a:r>
            <a:r>
              <a:rPr lang="en-GB" sz="4400" dirty="0"/>
              <a:t> = "database"(Books) </a:t>
            </a:r>
          </a:p>
          <a:p>
            <a:r>
              <a:rPr lang="en-GB" sz="2400" b="1" dirty="0"/>
              <a:t>Output </a:t>
            </a:r>
            <a:r>
              <a:rPr lang="en-GB" sz="2400" dirty="0"/>
              <a:t>: Selects rows whose subject is 'database' from books table.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586" y="2743200"/>
            <a:ext cx="9144001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28163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70957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SQL Query:</a:t>
            </a:r>
          </a:p>
          <a:p>
            <a:r>
              <a:rPr lang="en-GB" sz="3200" dirty="0"/>
              <a:t>SELECT * FROM Books WHERE Subject = 'database';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8175"/>
            <a:ext cx="91440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8232"/>
            <a:ext cx="9144001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37053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4134"/>
            <a:ext cx="9144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Project Operation (Π): </a:t>
            </a:r>
            <a:r>
              <a:rPr lang="en-GB" sz="3200" dirty="0"/>
              <a:t>It projects column(s) that satisfy a given predicate. </a:t>
            </a:r>
          </a:p>
          <a:p>
            <a:endParaRPr lang="en-GB" sz="3200" dirty="0"/>
          </a:p>
          <a:p>
            <a:r>
              <a:rPr lang="en-GB" sz="3600" b="1" dirty="0">
                <a:solidFill>
                  <a:schemeClr val="tx2"/>
                </a:solidFill>
              </a:rPr>
              <a:t>Notation:</a:t>
            </a:r>
            <a:r>
              <a:rPr lang="en-GB" sz="3200" b="1" dirty="0"/>
              <a:t> </a:t>
            </a:r>
            <a:r>
              <a:rPr lang="el-GR" sz="3200" dirty="0"/>
              <a:t>Π</a:t>
            </a:r>
            <a:r>
              <a:rPr lang="en-GB" sz="3200" dirty="0"/>
              <a:t>A1, A2, … An (r) </a:t>
            </a:r>
          </a:p>
          <a:p>
            <a:r>
              <a:rPr lang="en-GB" sz="3200" dirty="0"/>
              <a:t>where A1, A2 , An are column (attribute) names of relation </a:t>
            </a:r>
            <a:r>
              <a:rPr lang="en-GB" sz="3200" b="1" dirty="0"/>
              <a:t>r</a:t>
            </a:r>
            <a:r>
              <a:rPr lang="en-GB" sz="3200" dirty="0"/>
              <a:t>. Duplicate rows are automatically eliminated in the output. </a:t>
            </a:r>
          </a:p>
          <a:p>
            <a:endParaRPr lang="en-GB" sz="3200" dirty="0"/>
          </a:p>
          <a:p>
            <a:r>
              <a:rPr lang="en-GB" sz="3600" b="1" dirty="0">
                <a:solidFill>
                  <a:schemeClr val="tx2"/>
                </a:solidFill>
              </a:rPr>
              <a:t>Example:</a:t>
            </a:r>
            <a:r>
              <a:rPr lang="en-GB" sz="3200" dirty="0"/>
              <a:t> </a:t>
            </a:r>
            <a:r>
              <a:rPr lang="el-GR" sz="3200" dirty="0"/>
              <a:t>Π</a:t>
            </a:r>
            <a:r>
              <a:rPr lang="en-GB" sz="3200" dirty="0"/>
              <a:t>subject, author (Books) </a:t>
            </a:r>
          </a:p>
          <a:p>
            <a:r>
              <a:rPr lang="en-GB" sz="3200" dirty="0"/>
              <a:t>Display values from columns subject and author from the relation Books. </a:t>
            </a:r>
          </a:p>
        </p:txBody>
      </p:sp>
    </p:spTree>
    <p:extLst>
      <p:ext uri="{BB962C8B-B14F-4D97-AF65-F5344CB8AC3E}">
        <p14:creationId xmlns:p14="http://schemas.microsoft.com/office/powerpoint/2010/main" val="41837010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3810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Example:</a:t>
            </a:r>
            <a:r>
              <a:rPr lang="en-GB" sz="3600" dirty="0"/>
              <a:t> </a:t>
            </a:r>
            <a:r>
              <a:rPr lang="el-GR" sz="3600" dirty="0"/>
              <a:t>Π</a:t>
            </a:r>
            <a:r>
              <a:rPr lang="en-GB" sz="3600" dirty="0"/>
              <a:t>subject, author (Books)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" y="955893"/>
            <a:ext cx="9144001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-2" y="3429000"/>
            <a:ext cx="914400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SQL Query: </a:t>
            </a:r>
            <a:r>
              <a:rPr lang="en-GB" sz="3200" dirty="0"/>
              <a:t>SELECT Subject, Author FROM Books;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6" y="4013775"/>
            <a:ext cx="8974014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2799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52600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Union Operation (∪): </a:t>
            </a:r>
            <a:r>
              <a:rPr lang="en-GB" sz="2800" dirty="0"/>
              <a:t>It performs union operation between two given relations. It combines rows from two given relations. </a:t>
            </a:r>
          </a:p>
          <a:p>
            <a:r>
              <a:rPr lang="en-GB" sz="3200" b="1" dirty="0">
                <a:solidFill>
                  <a:schemeClr val="tx2"/>
                </a:solidFill>
              </a:rPr>
              <a:t>Notation: </a:t>
            </a:r>
            <a:r>
              <a:rPr lang="en-GB" sz="2800" dirty="0"/>
              <a:t>r U s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595218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Where </a:t>
            </a:r>
            <a:r>
              <a:rPr lang="en-GB" sz="2800" b="1" dirty="0"/>
              <a:t>r </a:t>
            </a:r>
            <a:r>
              <a:rPr lang="en-GB" sz="2800" dirty="0"/>
              <a:t>and </a:t>
            </a:r>
            <a:r>
              <a:rPr lang="en-GB" sz="2800" b="1" dirty="0"/>
              <a:t>s </a:t>
            </a:r>
            <a:r>
              <a:rPr lang="en-GB" sz="2800" dirty="0"/>
              <a:t>are  database relations . </a:t>
            </a:r>
          </a:p>
          <a:p>
            <a:r>
              <a:rPr lang="en-GB" sz="2800" b="1" dirty="0"/>
              <a:t>             r</a:t>
            </a:r>
            <a:r>
              <a:rPr lang="en-GB" sz="2800" dirty="0"/>
              <a:t> U </a:t>
            </a:r>
            <a:r>
              <a:rPr lang="en-GB" sz="2800" b="1" dirty="0"/>
              <a:t>s </a:t>
            </a:r>
            <a:r>
              <a:rPr lang="en-GB" sz="2800" dirty="0"/>
              <a:t>returns a relation containing all tuples that occur in either relation </a:t>
            </a: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r or relation  s (or both). </a:t>
            </a:r>
          </a:p>
          <a:p>
            <a:r>
              <a:rPr lang="en-GB" sz="2800" dirty="0"/>
              <a:t>For a union operation to be valid, the following conditions must hold: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b="1" dirty="0"/>
              <a:t>r </a:t>
            </a:r>
            <a:r>
              <a:rPr lang="en-GB" sz="2800" dirty="0"/>
              <a:t>and </a:t>
            </a:r>
            <a:r>
              <a:rPr lang="en-GB" sz="2800" b="1" dirty="0"/>
              <a:t>s </a:t>
            </a:r>
            <a:r>
              <a:rPr lang="en-GB" sz="2800" dirty="0"/>
              <a:t>must have the same number of attributes.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Attribute domains must be compatible in </a:t>
            </a:r>
            <a:r>
              <a:rPr lang="en-GB" sz="2800" b="1" dirty="0"/>
              <a:t>r </a:t>
            </a:r>
            <a:r>
              <a:rPr lang="en-GB" sz="2800" dirty="0"/>
              <a:t>and </a:t>
            </a:r>
            <a:r>
              <a:rPr lang="en-GB" sz="2800" b="1" dirty="0"/>
              <a:t>s</a:t>
            </a:r>
            <a:r>
              <a:rPr lang="en-GB" sz="2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511323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002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Example: </a:t>
            </a:r>
            <a:r>
              <a:rPr lang="en-GB" sz="2400" dirty="0"/>
              <a:t>Π author(Books) ∪ Π author(Articles) </a:t>
            </a:r>
          </a:p>
        </p:txBody>
      </p:sp>
      <p:sp>
        <p:nvSpPr>
          <p:cNvPr id="3" name="Rectangle 2"/>
          <p:cNvSpPr/>
          <p:nvPr/>
        </p:nvSpPr>
        <p:spPr>
          <a:xfrm>
            <a:off x="-46892" y="1975283"/>
            <a:ext cx="91908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SQL Query: </a:t>
            </a:r>
            <a:r>
              <a:rPr lang="en-GB" sz="2000" dirty="0"/>
              <a:t>SELECT Author FROM Books UNION SELECT Author FROM Articles;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2" y="2667000"/>
            <a:ext cx="9114692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1888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2590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657225"/>
            <a:ext cx="2400300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743200"/>
            <a:ext cx="6629400" cy="4122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15219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219200"/>
            <a:ext cx="9144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Intersection Operation (∩): </a:t>
            </a:r>
            <a:r>
              <a:rPr lang="en-GB" sz="2800" dirty="0"/>
              <a:t>It performs intersection operation between two given relations . It collect only rows which are </a:t>
            </a:r>
            <a:r>
              <a:rPr lang="en-GB" sz="2800" b="1" dirty="0">
                <a:solidFill>
                  <a:schemeClr val="accent6"/>
                </a:solidFill>
              </a:rPr>
              <a:t>common in the two given relations.</a:t>
            </a:r>
            <a:r>
              <a:rPr lang="en-GB" sz="2800" dirty="0"/>
              <a:t>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Notation:</a:t>
            </a:r>
            <a:r>
              <a:rPr lang="en-GB" sz="2800" b="1" dirty="0"/>
              <a:t> </a:t>
            </a:r>
            <a:r>
              <a:rPr lang="en-GB" sz="2800" dirty="0"/>
              <a:t>R ∩ S </a:t>
            </a:r>
          </a:p>
          <a:p>
            <a:r>
              <a:rPr lang="en-GB" sz="2800" i="1" dirty="0"/>
              <a:t>R ∩ S </a:t>
            </a:r>
            <a:r>
              <a:rPr lang="en-GB" sz="2800" dirty="0"/>
              <a:t>returns a relation containing all tuples that occur in </a:t>
            </a:r>
            <a:r>
              <a:rPr lang="en-GB" sz="2800" i="1" dirty="0"/>
              <a:t>both R </a:t>
            </a:r>
            <a:r>
              <a:rPr lang="en-GB" sz="2800" dirty="0"/>
              <a:t>and </a:t>
            </a:r>
            <a:r>
              <a:rPr lang="en-GB" sz="2800" i="1" dirty="0"/>
              <a:t>S</a:t>
            </a:r>
            <a:r>
              <a:rPr lang="en-GB" sz="2800" dirty="0"/>
              <a:t>. </a:t>
            </a:r>
          </a:p>
          <a:p>
            <a:r>
              <a:rPr lang="en-GB" sz="2800" dirty="0"/>
              <a:t>The relations </a:t>
            </a:r>
            <a:r>
              <a:rPr lang="en-GB" sz="2800" i="1" dirty="0"/>
              <a:t>R </a:t>
            </a:r>
            <a:r>
              <a:rPr lang="en-GB" sz="2800" dirty="0"/>
              <a:t>and </a:t>
            </a:r>
            <a:r>
              <a:rPr lang="en-GB" sz="2800" i="1" dirty="0"/>
              <a:t>S </a:t>
            </a:r>
            <a:r>
              <a:rPr lang="en-GB" sz="2800" dirty="0"/>
              <a:t>must be union-compatible, and the schema of the result is defined to be identical to the schema of </a:t>
            </a:r>
            <a:r>
              <a:rPr lang="en-GB" sz="2800" i="1" dirty="0"/>
              <a:t>R</a:t>
            </a:r>
            <a:r>
              <a:rPr lang="en-GB" sz="2800" dirty="0"/>
              <a:t>. 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22678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Example:</a:t>
            </a:r>
            <a:r>
              <a:rPr lang="en-GB" sz="2800" dirty="0"/>
              <a:t> </a:t>
            </a:r>
            <a:r>
              <a:rPr lang="el-GR" sz="2800" dirty="0"/>
              <a:t>Π </a:t>
            </a:r>
            <a:r>
              <a:rPr lang="en-GB" sz="2800" dirty="0"/>
              <a:t>author(Books) ∩ </a:t>
            </a:r>
            <a:r>
              <a:rPr lang="el-GR" sz="2800" dirty="0"/>
              <a:t>Π </a:t>
            </a:r>
            <a:r>
              <a:rPr lang="en-GB" sz="2800" dirty="0"/>
              <a:t>author(Articles) </a:t>
            </a:r>
          </a:p>
          <a:p>
            <a:r>
              <a:rPr lang="en-GB" sz="3600" b="1" dirty="0">
                <a:solidFill>
                  <a:schemeClr val="tx2"/>
                </a:solidFill>
              </a:rPr>
              <a:t>Output:</a:t>
            </a:r>
            <a:r>
              <a:rPr lang="en-GB" sz="2800" b="1" dirty="0"/>
              <a:t> </a:t>
            </a:r>
            <a:r>
              <a:rPr lang="en-GB" sz="2800" dirty="0"/>
              <a:t>Projects the names of the authors who have written both book and an article.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12452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25105"/>
            <a:ext cx="9296400" cy="4405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76200" y="91440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/>
                </a:solidFill>
              </a:rPr>
              <a:t>Example:</a:t>
            </a:r>
            <a:r>
              <a:rPr lang="en-GB" sz="3200" dirty="0"/>
              <a:t> </a:t>
            </a:r>
            <a:r>
              <a:rPr lang="el-GR" sz="3200" dirty="0"/>
              <a:t>Π </a:t>
            </a:r>
            <a:r>
              <a:rPr lang="en-GB" sz="3200" dirty="0"/>
              <a:t>author(Books) ∩ </a:t>
            </a:r>
            <a:r>
              <a:rPr lang="el-GR" sz="3200" dirty="0"/>
              <a:t>Π </a:t>
            </a:r>
            <a:r>
              <a:rPr lang="en-GB" sz="3200" dirty="0"/>
              <a:t>author(Articles) </a:t>
            </a:r>
          </a:p>
          <a:p>
            <a:r>
              <a:rPr lang="en-GB" sz="3200" b="1" dirty="0">
                <a:solidFill>
                  <a:schemeClr val="tx2"/>
                </a:solidFill>
              </a:rPr>
              <a:t>Output:</a:t>
            </a:r>
            <a:r>
              <a:rPr lang="en-GB" sz="3200" b="1" dirty="0"/>
              <a:t> </a:t>
            </a:r>
            <a:r>
              <a:rPr lang="en-GB" sz="3200" dirty="0"/>
              <a:t>Projects the names of the authors who have written </a:t>
            </a:r>
            <a:r>
              <a:rPr lang="en-GB" sz="3200" b="1" dirty="0">
                <a:solidFill>
                  <a:schemeClr val="accent6">
                    <a:lumMod val="50000"/>
                  </a:schemeClr>
                </a:solidFill>
              </a:rPr>
              <a:t>both book and an article</a:t>
            </a:r>
          </a:p>
        </p:txBody>
      </p:sp>
    </p:spTree>
    <p:extLst>
      <p:ext uri="{BB962C8B-B14F-4D97-AF65-F5344CB8AC3E}">
        <p14:creationId xmlns:p14="http://schemas.microsoft.com/office/powerpoint/2010/main" val="24577196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</a:rPr>
              <a:t>Example:</a:t>
            </a:r>
            <a:r>
              <a:rPr lang="en-GB" sz="2800" dirty="0"/>
              <a:t> </a:t>
            </a:r>
            <a:r>
              <a:rPr lang="el-GR" sz="2800" dirty="0"/>
              <a:t>Π </a:t>
            </a:r>
            <a:r>
              <a:rPr lang="en-GB" sz="2800" dirty="0"/>
              <a:t>author(Books) ∩ </a:t>
            </a:r>
            <a:r>
              <a:rPr lang="el-GR" sz="2800" dirty="0"/>
              <a:t>Π </a:t>
            </a:r>
            <a:r>
              <a:rPr lang="en-GB" sz="2800" dirty="0"/>
              <a:t>author(Articles) </a:t>
            </a:r>
          </a:p>
          <a:p>
            <a:r>
              <a:rPr lang="en-GB" sz="2800" b="1" dirty="0">
                <a:solidFill>
                  <a:schemeClr val="tx2"/>
                </a:solidFill>
              </a:rPr>
              <a:t>Output:</a:t>
            </a:r>
            <a:r>
              <a:rPr lang="en-GB" sz="2800" b="1" dirty="0"/>
              <a:t> </a:t>
            </a:r>
            <a:r>
              <a:rPr lang="en-GB" sz="2800" dirty="0"/>
              <a:t>Projects the names of the authors who have written both book and an article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55" y="1981200"/>
            <a:ext cx="1933345" cy="194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28600" y="1611868"/>
            <a:ext cx="1865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/>
              <a:t>Π </a:t>
            </a:r>
            <a:r>
              <a:rPr lang="en-GB" b="1" dirty="0"/>
              <a:t>author (Books)</a:t>
            </a:r>
            <a:r>
              <a:rPr lang="en-GB" dirty="0"/>
              <a:t>: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11868"/>
            <a:ext cx="200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/>
              <a:t>Π </a:t>
            </a:r>
            <a:r>
              <a:rPr lang="en-GB" b="1" dirty="0"/>
              <a:t>author (Articles)</a:t>
            </a:r>
            <a:r>
              <a:rPr lang="en-GB" dirty="0"/>
              <a:t>: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1200"/>
            <a:ext cx="2133600" cy="169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941734"/>
            <a:ext cx="9247880" cy="2687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57114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28800"/>
            <a:ext cx="91440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Set Difference (−): </a:t>
            </a:r>
            <a:r>
              <a:rPr lang="en-GB" sz="3200" dirty="0"/>
              <a:t>It finds tuples which are present in one relation but not in the second relation. </a:t>
            </a:r>
          </a:p>
          <a:p>
            <a:r>
              <a:rPr lang="en-GB" sz="3600" b="1" dirty="0">
                <a:solidFill>
                  <a:schemeClr val="tx2"/>
                </a:solidFill>
              </a:rPr>
              <a:t>Notation: </a:t>
            </a:r>
            <a:r>
              <a:rPr lang="en-GB" sz="3200" b="1" dirty="0"/>
              <a:t>r </a:t>
            </a:r>
            <a:r>
              <a:rPr lang="en-GB" sz="3200" dirty="0"/>
              <a:t>− </a:t>
            </a:r>
            <a:r>
              <a:rPr lang="en-GB" sz="3200" b="1" dirty="0"/>
              <a:t>s </a:t>
            </a:r>
            <a:endParaRPr lang="en-GB" sz="3200" dirty="0"/>
          </a:p>
          <a:p>
            <a:r>
              <a:rPr lang="en-GB" sz="3200" dirty="0"/>
              <a:t>Finds all the tuples that </a:t>
            </a:r>
            <a:r>
              <a:rPr lang="en-GB" sz="3200" dirty="0" err="1"/>
              <a:t>are</a:t>
            </a:r>
            <a:r>
              <a:rPr lang="en-GB" sz="3600" b="1" dirty="0" err="1">
                <a:solidFill>
                  <a:schemeClr val="accent6">
                    <a:lumMod val="50000"/>
                  </a:schemeClr>
                </a:solidFill>
              </a:rPr>
              <a:t>present</a:t>
            </a:r>
            <a:r>
              <a:rPr lang="en-GB" sz="3600" b="1" dirty="0">
                <a:solidFill>
                  <a:schemeClr val="accent6">
                    <a:lumMod val="50000"/>
                  </a:schemeClr>
                </a:solidFill>
              </a:rPr>
              <a:t> in r but not in s</a:t>
            </a:r>
          </a:p>
          <a:p>
            <a:endParaRPr lang="en-GB" sz="36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sz="3600" b="1" dirty="0">
                <a:solidFill>
                  <a:schemeClr val="tx2"/>
                </a:solidFill>
              </a:rPr>
              <a:t>Example: </a:t>
            </a:r>
            <a:r>
              <a:rPr lang="en-GB" sz="3200" dirty="0"/>
              <a:t>Π author (Books) − Π author (Articles) </a:t>
            </a:r>
          </a:p>
          <a:p>
            <a:endParaRPr lang="en-GB" sz="3200" b="1" dirty="0"/>
          </a:p>
          <a:p>
            <a:r>
              <a:rPr lang="en-GB" sz="3600" b="1" dirty="0">
                <a:solidFill>
                  <a:schemeClr val="tx2"/>
                </a:solidFill>
              </a:rPr>
              <a:t>Output: </a:t>
            </a:r>
            <a:r>
              <a:rPr lang="en-GB" sz="3200" dirty="0"/>
              <a:t>   Provides the name of authors who have written books but not articles. </a:t>
            </a:r>
          </a:p>
        </p:txBody>
      </p:sp>
    </p:spTree>
    <p:extLst>
      <p:ext uri="{BB962C8B-B14F-4D97-AF65-F5344CB8AC3E}">
        <p14:creationId xmlns:p14="http://schemas.microsoft.com/office/powerpoint/2010/main" val="31820625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38400"/>
            <a:ext cx="8974015" cy="4314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2238" y="1676400"/>
            <a:ext cx="91117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/>
                </a:solidFill>
              </a:rPr>
              <a:t>Example: </a:t>
            </a:r>
            <a:r>
              <a:rPr lang="en-GB" sz="3600" dirty="0"/>
              <a:t>Π author (Books) − Π author (Articles) </a:t>
            </a:r>
          </a:p>
        </p:txBody>
      </p:sp>
    </p:spTree>
    <p:extLst>
      <p:ext uri="{BB962C8B-B14F-4D97-AF65-F5344CB8AC3E}">
        <p14:creationId xmlns:p14="http://schemas.microsoft.com/office/powerpoint/2010/main" val="29047998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990600"/>
            <a:ext cx="1865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/>
              <a:t>Π </a:t>
            </a:r>
            <a:r>
              <a:rPr lang="en-GB" b="1" dirty="0"/>
              <a:t>author (Books)</a:t>
            </a:r>
            <a:r>
              <a:rPr lang="en-GB" dirty="0"/>
              <a:t>: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14" y="1285251"/>
            <a:ext cx="1997686" cy="2076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191000" y="990600"/>
            <a:ext cx="2004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b="1" dirty="0"/>
              <a:t>Π </a:t>
            </a:r>
            <a:r>
              <a:rPr lang="en-GB" b="1" dirty="0"/>
              <a:t>author (Articles</a:t>
            </a:r>
            <a:r>
              <a:rPr lang="en-GB" dirty="0"/>
              <a:t>):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59931"/>
            <a:ext cx="2133600" cy="2040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18" y="3276600"/>
            <a:ext cx="9023933" cy="3279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47564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40217"/>
            <a:ext cx="9144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Rename Operation (ρ):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 results of relational algebra are also relations but without any name.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The rename operation allows us to rename the output relation.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'rename' operation is denoted with small Greek letter rho ρ. </a:t>
            </a:r>
          </a:p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Notation: </a:t>
            </a:r>
            <a:r>
              <a:rPr lang="el-GR" sz="3200" i="1" dirty="0"/>
              <a:t>ρ</a:t>
            </a:r>
            <a:r>
              <a:rPr lang="el-GR" sz="3200" dirty="0"/>
              <a:t>( </a:t>
            </a:r>
            <a:r>
              <a:rPr lang="en-GB" sz="3200" dirty="0"/>
              <a:t>temp, E) </a:t>
            </a:r>
          </a:p>
          <a:p>
            <a:r>
              <a:rPr lang="en-GB" sz="3200" dirty="0"/>
              <a:t>Where the result of expression </a:t>
            </a:r>
            <a:r>
              <a:rPr lang="en-GB" sz="3200" b="1" dirty="0"/>
              <a:t>E </a:t>
            </a:r>
            <a:r>
              <a:rPr lang="en-GB" sz="3200" dirty="0"/>
              <a:t>is saved with name of </a:t>
            </a:r>
            <a:r>
              <a:rPr lang="en-GB" sz="3200" b="1" i="1" dirty="0"/>
              <a:t>temp</a:t>
            </a:r>
            <a:r>
              <a:rPr lang="en-GB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149885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00"/>
            <a:ext cx="9144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Cartesian Product (Χ): </a:t>
            </a:r>
            <a:r>
              <a:rPr lang="en-GB" sz="2800" dirty="0"/>
              <a:t>It returns a relation  whose schema contains all the fields of table-1 (in the same order as they appear in table-1) followed by all the fields of table-2.</a:t>
            </a:r>
          </a:p>
          <a:p>
            <a:r>
              <a:rPr lang="en-GB" sz="2800" dirty="0"/>
              <a:t> </a:t>
            </a: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</a:rPr>
              <a:t>It combines every row in first table with every row in the second table. </a:t>
            </a:r>
          </a:p>
          <a:p>
            <a:endParaRPr lang="en-GB" sz="2800" dirty="0"/>
          </a:p>
          <a:p>
            <a:r>
              <a:rPr lang="en-GB" sz="4000" b="1" dirty="0">
                <a:solidFill>
                  <a:schemeClr val="tx2">
                    <a:lumMod val="50000"/>
                  </a:schemeClr>
                </a:solidFill>
              </a:rPr>
              <a:t>Notation: </a:t>
            </a:r>
            <a:r>
              <a:rPr lang="en-GB" sz="2800" b="1" dirty="0"/>
              <a:t>r </a:t>
            </a:r>
            <a:r>
              <a:rPr lang="el-GR" sz="2800" dirty="0"/>
              <a:t>Χ </a:t>
            </a:r>
            <a:r>
              <a:rPr lang="en-GB" sz="2800" b="1" dirty="0"/>
              <a:t>s </a:t>
            </a:r>
            <a:endParaRPr lang="en-GB" sz="2800" dirty="0"/>
          </a:p>
          <a:p>
            <a:r>
              <a:rPr lang="en-GB" sz="2800" dirty="0"/>
              <a:t>Where </a:t>
            </a:r>
            <a:r>
              <a:rPr lang="en-GB" sz="2800" b="1" dirty="0"/>
              <a:t>r </a:t>
            </a:r>
            <a:r>
              <a:rPr lang="en-GB" sz="2800" dirty="0"/>
              <a:t>and </a:t>
            </a:r>
            <a:r>
              <a:rPr lang="en-GB" sz="2800" b="1" dirty="0"/>
              <a:t>s </a:t>
            </a:r>
            <a:r>
              <a:rPr lang="en-GB" sz="2800" dirty="0"/>
              <a:t>are relations and their output will be </a:t>
            </a:r>
            <a:r>
              <a:rPr lang="en-GB" sz="2800" dirty="0" err="1"/>
              <a:t>definedas</a:t>
            </a:r>
            <a:r>
              <a:rPr lang="en-GB" sz="2800" dirty="0"/>
              <a:t> :</a:t>
            </a:r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 r Χ s = { q t | q ∈ r and t ∈ s} </a:t>
            </a:r>
          </a:p>
        </p:txBody>
      </p:sp>
    </p:spTree>
    <p:extLst>
      <p:ext uri="{BB962C8B-B14F-4D97-AF65-F5344CB8AC3E}">
        <p14:creationId xmlns:p14="http://schemas.microsoft.com/office/powerpoint/2010/main" val="27463700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969124" cy="1904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660470"/>
            <a:ext cx="4050786" cy="146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2971799"/>
            <a:ext cx="8810625" cy="384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36447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15" y="2667000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Division (</a:t>
            </a:r>
            <a:r>
              <a:rPr lang="en-GB" sz="3600" dirty="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en-GB" sz="3600" b="1" dirty="0">
                <a:solidFill>
                  <a:schemeClr val="tx2">
                    <a:lumMod val="50000"/>
                  </a:schemeClr>
                </a:solidFill>
              </a:rPr>
              <a:t>):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dirty="0"/>
              <a:t>Consider two relation  </a:t>
            </a:r>
            <a:r>
              <a:rPr lang="en-GB" sz="2400" i="1" dirty="0"/>
              <a:t>A </a:t>
            </a:r>
            <a:r>
              <a:rPr lang="en-GB" sz="2400" dirty="0"/>
              <a:t>and </a:t>
            </a:r>
            <a:r>
              <a:rPr lang="en-GB" sz="2400" i="1" dirty="0"/>
              <a:t>B </a:t>
            </a:r>
            <a:r>
              <a:rPr lang="en-GB" sz="2400" dirty="0"/>
              <a:t>in which </a:t>
            </a:r>
            <a:r>
              <a:rPr lang="en-GB" sz="2400" i="1" dirty="0"/>
              <a:t>A </a:t>
            </a:r>
            <a:r>
              <a:rPr lang="en-GB" sz="2400" dirty="0"/>
              <a:t>has (exactly) two fields </a:t>
            </a:r>
            <a:r>
              <a:rPr lang="en-GB" sz="2400" i="1" dirty="0"/>
              <a:t>x </a:t>
            </a:r>
            <a:r>
              <a:rPr lang="en-GB" sz="2400" dirty="0"/>
              <a:t>and </a:t>
            </a:r>
            <a:r>
              <a:rPr lang="en-GB" sz="2400" i="1" dirty="0"/>
              <a:t>y </a:t>
            </a:r>
            <a:r>
              <a:rPr lang="en-GB" sz="2400" dirty="0"/>
              <a:t>and </a:t>
            </a:r>
            <a:r>
              <a:rPr lang="en-GB" sz="2400" i="1" dirty="0"/>
              <a:t>B </a:t>
            </a:r>
            <a:r>
              <a:rPr lang="en-GB" sz="2400" dirty="0"/>
              <a:t>has just one field </a:t>
            </a:r>
            <a:r>
              <a:rPr lang="en-GB" sz="2400" i="1" dirty="0"/>
              <a:t>y, </a:t>
            </a:r>
            <a:r>
              <a:rPr lang="en-GB" sz="2400" dirty="0"/>
              <a:t>with the same domain as in </a:t>
            </a:r>
            <a:r>
              <a:rPr lang="en-GB" sz="2400" i="1" dirty="0"/>
              <a:t>A.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dirty="0"/>
              <a:t>We define the </a:t>
            </a:r>
            <a:r>
              <a:rPr lang="en-GB" sz="2400" i="1" dirty="0"/>
              <a:t>division </a:t>
            </a:r>
            <a:r>
              <a:rPr lang="en-GB" sz="2400" dirty="0"/>
              <a:t>operation </a:t>
            </a:r>
            <a:r>
              <a:rPr lang="en-GB" sz="2400" i="1" dirty="0"/>
              <a:t>A / B </a:t>
            </a:r>
            <a:r>
              <a:rPr lang="en-GB" sz="2400" dirty="0"/>
              <a:t>as the set of all </a:t>
            </a:r>
            <a:r>
              <a:rPr lang="en-GB" sz="2400" i="1" dirty="0"/>
              <a:t>x </a:t>
            </a:r>
            <a:r>
              <a:rPr lang="en-GB" sz="2400" dirty="0"/>
              <a:t>values (in the form of unary tuples) such that for </a:t>
            </a:r>
            <a:r>
              <a:rPr lang="en-GB" sz="2400" i="1" dirty="0"/>
              <a:t>every y </a:t>
            </a:r>
            <a:r>
              <a:rPr lang="en-GB" sz="2400" dirty="0"/>
              <a:t>value in (a tuple of) </a:t>
            </a:r>
            <a:r>
              <a:rPr lang="en-GB" sz="2400" i="1" dirty="0"/>
              <a:t>B, </a:t>
            </a:r>
            <a:r>
              <a:rPr lang="en-GB" sz="2400" dirty="0"/>
              <a:t>there is a tuple </a:t>
            </a:r>
            <a:r>
              <a:rPr lang="en-GB" sz="2400" i="1" dirty="0"/>
              <a:t>(</a:t>
            </a:r>
            <a:r>
              <a:rPr lang="en-GB" sz="2400" i="1" dirty="0" err="1"/>
              <a:t>x,y</a:t>
            </a:r>
            <a:r>
              <a:rPr lang="en-GB" sz="2400" i="1" dirty="0"/>
              <a:t>) </a:t>
            </a:r>
            <a:r>
              <a:rPr lang="en-GB" sz="2400" dirty="0"/>
              <a:t>in </a:t>
            </a:r>
            <a:r>
              <a:rPr lang="en-GB" sz="2400" i="1" dirty="0"/>
              <a:t>A.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400" b="1" dirty="0"/>
              <a:t>A ⊆ B</a:t>
            </a:r>
            <a:r>
              <a:rPr lang="en-GB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258284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822" y="1676400"/>
            <a:ext cx="9180822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5646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1369" y="2011847"/>
            <a:ext cx="89154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sz="3200" dirty="0"/>
              <a:t>The </a:t>
            </a:r>
            <a:r>
              <a:rPr lang="en-GB" sz="3200" i="1" dirty="0"/>
              <a:t>join condition </a:t>
            </a:r>
            <a:r>
              <a:rPr lang="en-GB" sz="3200" dirty="0"/>
              <a:t>is identical to a </a:t>
            </a:r>
            <a:r>
              <a:rPr lang="en-GB" sz="3200" i="1" dirty="0"/>
              <a:t>selection condition </a:t>
            </a:r>
            <a:r>
              <a:rPr lang="en-GB" sz="3200" dirty="0"/>
              <a:t>in form. The operation is defined as follows: </a:t>
            </a:r>
          </a:p>
          <a:p>
            <a:endParaRPr lang="en-GB" sz="3200" dirty="0"/>
          </a:p>
          <a:p>
            <a:r>
              <a:rPr lang="en-GB" sz="3200" dirty="0"/>
              <a:t>        </a:t>
            </a:r>
          </a:p>
          <a:p>
            <a:r>
              <a:rPr lang="en-GB" sz="3200" dirty="0"/>
              <a:t>Thus       is defined to be a cross-product followed by a selection. </a:t>
            </a:r>
          </a:p>
          <a:p>
            <a:r>
              <a:rPr lang="en-GB" sz="3200" dirty="0"/>
              <a:t>Note that the condition c can refer to attributes of both Rand </a:t>
            </a:r>
            <a:r>
              <a:rPr lang="en-GB" sz="3200" i="1" dirty="0"/>
              <a:t>S. </a:t>
            </a:r>
            <a:endParaRPr lang="en-GB" sz="32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3657600"/>
            <a:ext cx="4953001" cy="921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512276"/>
            <a:ext cx="2723706" cy="1002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63952"/>
            <a:ext cx="40005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6105275"/>
            <a:ext cx="84772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658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371600"/>
            <a:ext cx="89916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RELATIONAL CALCULUS </a:t>
            </a:r>
            <a:endParaRPr lang="en-GB" sz="3600" dirty="0">
              <a:solidFill>
                <a:schemeClr val="tx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Relational calculus is an alternative to relational algebra.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In contrast to the algebra, which is procedural, the calculus is nonprocedural, or </a:t>
            </a:r>
            <a:r>
              <a:rPr lang="en-GB" sz="2800" i="1" dirty="0"/>
              <a:t>declarative</a:t>
            </a:r>
            <a:r>
              <a:rPr lang="en-GB" sz="2800" dirty="0"/>
              <a:t>.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It allows us to describe the set of answers without being explicit about how they should be computed. 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600" y="4172366"/>
            <a:ext cx="6172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1. Tuple Relational Calculus </a:t>
            </a:r>
            <a:endParaRPr lang="en-GB" sz="2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724400"/>
            <a:ext cx="5416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2. Domain Relational Calculus </a:t>
            </a:r>
            <a:endParaRPr lang="en-GB" sz="2800" dirty="0">
              <a:solidFill>
                <a:schemeClr val="accent6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0" y="5247620"/>
            <a:ext cx="8991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Quantifiers</a:t>
            </a:r>
            <a:r>
              <a:rPr lang="en-GB" sz="2400" b="1" dirty="0"/>
              <a:t> </a:t>
            </a:r>
          </a:p>
          <a:p>
            <a:r>
              <a:rPr lang="en-GB" sz="2400" b="1" dirty="0"/>
              <a:t>∃ (Existential Quantifier)</a:t>
            </a:r>
            <a:r>
              <a:rPr lang="en-GB" sz="2400" dirty="0"/>
              <a:t> → There exists </a:t>
            </a:r>
            <a:r>
              <a:rPr lang="en-GB" sz="2400" b="1" dirty="0"/>
              <a:t>at </a:t>
            </a:r>
            <a:r>
              <a:rPr lang="en-GB" sz="2400" b="1" dirty="0">
                <a:solidFill>
                  <a:schemeClr val="tx2">
                    <a:lumMod val="75000"/>
                  </a:schemeClr>
                </a:solidFill>
              </a:rPr>
              <a:t>least one value </a:t>
            </a:r>
            <a:r>
              <a:rPr lang="en-GB" sz="2400" dirty="0"/>
              <a:t>satisfying the condition.</a:t>
            </a:r>
          </a:p>
          <a:p>
            <a:r>
              <a:rPr lang="en-GB" sz="2400" b="1" dirty="0"/>
              <a:t>∀ (Universal Quantifier)</a:t>
            </a:r>
            <a:r>
              <a:rPr lang="en-GB" sz="2400" dirty="0"/>
              <a:t> → </a:t>
            </a:r>
            <a:r>
              <a:rPr lang="en-GB" sz="2400" b="1" dirty="0">
                <a:solidFill>
                  <a:schemeClr val="tx2">
                    <a:lumMod val="75000"/>
                  </a:schemeClr>
                </a:solidFill>
              </a:rPr>
              <a:t>All values </a:t>
            </a:r>
            <a:r>
              <a:rPr lang="en-GB" sz="2400" dirty="0"/>
              <a:t>must satisfy the condition.</a:t>
            </a:r>
          </a:p>
        </p:txBody>
      </p:sp>
    </p:spTree>
    <p:extLst>
      <p:ext uri="{BB962C8B-B14F-4D97-AF65-F5344CB8AC3E}">
        <p14:creationId xmlns:p14="http://schemas.microsoft.com/office/powerpoint/2010/main" val="37385305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8100" y="2895600"/>
            <a:ext cx="92202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1 Tuple Relational Calculus</a:t>
            </a:r>
            <a:r>
              <a:rPr lang="en-GB" sz="2800" b="1" dirty="0"/>
              <a:t> </a:t>
            </a:r>
            <a:endParaRPr lang="en-GB" sz="2800" dirty="0"/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Tuple Relational Calculus is a non-procedural query language unlike relational algebra.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Tuple Calculus provides </a:t>
            </a:r>
            <a:r>
              <a:rPr lang="en-GB" sz="2800" b="1" dirty="0">
                <a:solidFill>
                  <a:schemeClr val="accent6">
                    <a:lumMod val="75000"/>
                  </a:schemeClr>
                </a:solidFill>
                <a:latin typeface="Agency FB" pitchFamily="34" charset="0"/>
              </a:rPr>
              <a:t>only the description of the query but it does not provide the methods to solve it. </a:t>
            </a:r>
          </a:p>
          <a:p>
            <a:pPr marL="457200" indent="-457200">
              <a:buFont typeface="Wingdings" pitchFamily="2" charset="2"/>
              <a:buChar char="v"/>
            </a:pPr>
            <a:r>
              <a:rPr lang="en-GB" sz="2800" dirty="0"/>
              <a:t>Thus, it explains what to do but not how to do. </a:t>
            </a:r>
          </a:p>
          <a:p>
            <a:r>
              <a:rPr lang="en-GB" sz="2800" dirty="0"/>
              <a:t>     In Tuple Relational Calculus, </a:t>
            </a:r>
          </a:p>
          <a:p>
            <a:r>
              <a:rPr lang="en-GB" sz="2800" dirty="0"/>
              <a:t>               a query is expressed as </a:t>
            </a:r>
            <a:r>
              <a:rPr lang="en-GB" sz="3200" b="1" dirty="0">
                <a:solidFill>
                  <a:schemeClr val="tx2">
                    <a:lumMod val="75000"/>
                  </a:schemeClr>
                </a:solidFill>
              </a:rPr>
              <a:t>{t| P(t)} </a:t>
            </a:r>
          </a:p>
        </p:txBody>
      </p:sp>
    </p:spTree>
    <p:extLst>
      <p:ext uri="{BB962C8B-B14F-4D97-AF65-F5344CB8AC3E}">
        <p14:creationId xmlns:p14="http://schemas.microsoft.com/office/powerpoint/2010/main" val="41513000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447800"/>
            <a:ext cx="6172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In Tuple Relational Calculus, </a:t>
            </a:r>
          </a:p>
          <a:p>
            <a:r>
              <a:rPr lang="en-GB" sz="2800" dirty="0"/>
              <a:t>            a query is expressed as</a:t>
            </a:r>
            <a:r>
              <a:rPr lang="en-GB" sz="2400" dirty="0"/>
              <a:t>  </a:t>
            </a:r>
            <a:r>
              <a:rPr lang="en-GB" sz="3600" b="1" dirty="0">
                <a:solidFill>
                  <a:schemeClr val="tx2">
                    <a:lumMod val="75000"/>
                  </a:schemeClr>
                </a:solidFill>
              </a:rPr>
              <a:t>{t| P(t)} 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828836"/>
            <a:ext cx="8458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Where, </a:t>
            </a:r>
          </a:p>
          <a:p>
            <a:r>
              <a:rPr lang="en-GB" sz="2800" dirty="0"/>
              <a:t>             t = resulting tuples, </a:t>
            </a:r>
          </a:p>
          <a:p>
            <a:r>
              <a:rPr lang="en-GB" sz="2800" dirty="0"/>
              <a:t>             P(t) = known as Predicate and </a:t>
            </a:r>
          </a:p>
          <a:p>
            <a:r>
              <a:rPr lang="en-GB" sz="2800" dirty="0"/>
              <a:t>                these are the conditions that are used to fetch t. </a:t>
            </a:r>
          </a:p>
          <a:p>
            <a:r>
              <a:rPr lang="en-GB" sz="2800" dirty="0"/>
              <a:t>                   Thus, it generates set of all tuples t, </a:t>
            </a:r>
          </a:p>
          <a:p>
            <a:r>
              <a:rPr lang="en-GB" sz="2800" dirty="0"/>
              <a:t>                             such that Predicate P(t) is true for t. </a:t>
            </a:r>
          </a:p>
        </p:txBody>
      </p:sp>
    </p:spTree>
    <p:extLst>
      <p:ext uri="{BB962C8B-B14F-4D97-AF65-F5344CB8AC3E}">
        <p14:creationId xmlns:p14="http://schemas.microsoft.com/office/powerpoint/2010/main" val="41726841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905000"/>
            <a:ext cx="913227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</a:schemeClr>
                </a:solidFill>
              </a:rPr>
              <a:t>P(t)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sz="2800" dirty="0"/>
              <a:t>may have various conditions logically combined with                </a:t>
            </a:r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.                                      </a:t>
            </a:r>
            <a:r>
              <a:rPr lang="en-GB" sz="2800" b="1" dirty="0">
                <a:solidFill>
                  <a:schemeClr val="tx2">
                    <a:lumMod val="75000"/>
                  </a:schemeClr>
                </a:solidFill>
              </a:rPr>
              <a:t>OR (∨), AND (∧), NOT(¬). </a:t>
            </a:r>
          </a:p>
          <a:p>
            <a:endParaRPr lang="en-GB" sz="2800" dirty="0"/>
          </a:p>
          <a:p>
            <a:r>
              <a:rPr lang="en-GB" sz="2800" dirty="0"/>
              <a:t>It also uses quantifiers: </a:t>
            </a:r>
          </a:p>
          <a:p>
            <a:endParaRPr lang="en-GB" sz="2800" dirty="0"/>
          </a:p>
          <a:p>
            <a:r>
              <a:rPr lang="en-GB" sz="2800" b="1" dirty="0"/>
              <a:t>                                     </a:t>
            </a:r>
            <a:r>
              <a:rPr lang="en-GB" sz="2800" b="1" dirty="0">
                <a:solidFill>
                  <a:schemeClr val="tx2">
                    <a:lumMod val="75000"/>
                  </a:schemeClr>
                </a:solidFill>
              </a:rPr>
              <a:t>∃ t ∈ r (Q(t)) </a:t>
            </a:r>
          </a:p>
          <a:p>
            <a:r>
              <a:rPr lang="en-GB" sz="2800" dirty="0"/>
              <a:t> ”there exists” a tuple in t in relation r such that predicate Q(t) is true.</a:t>
            </a:r>
          </a:p>
          <a:p>
            <a:r>
              <a:rPr lang="en-GB" sz="2800" dirty="0"/>
              <a:t> </a:t>
            </a:r>
          </a:p>
          <a:p>
            <a:r>
              <a:rPr lang="en-GB" sz="2800" dirty="0">
                <a:solidFill>
                  <a:schemeClr val="tx2">
                    <a:lumMod val="75000"/>
                  </a:schemeClr>
                </a:solidFill>
              </a:rPr>
              <a:t>                                   </a:t>
            </a:r>
            <a:r>
              <a:rPr lang="en-GB" sz="2800" b="1" dirty="0">
                <a:solidFill>
                  <a:schemeClr val="tx2">
                    <a:lumMod val="75000"/>
                  </a:schemeClr>
                </a:solidFill>
              </a:rPr>
              <a:t>∀ t ∈ r (Q(t)) </a:t>
            </a:r>
          </a:p>
          <a:p>
            <a:r>
              <a:rPr lang="en-GB" sz="2800" dirty="0"/>
              <a:t>            Q(t) is true “for all” tuples in relation r. </a:t>
            </a:r>
          </a:p>
        </p:txBody>
      </p:sp>
    </p:spTree>
    <p:extLst>
      <p:ext uri="{BB962C8B-B14F-4D97-AF65-F5344CB8AC3E}">
        <p14:creationId xmlns:p14="http://schemas.microsoft.com/office/powerpoint/2010/main" val="24914907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57200"/>
            <a:ext cx="9144000" cy="7417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/>
              <a:t>Tuple Relational Calculus (TRC) </a:t>
            </a:r>
          </a:p>
          <a:p>
            <a:r>
              <a:rPr lang="en-GB" sz="2800" b="1" dirty="0"/>
              <a:t>Example - Student Database Schema:</a:t>
            </a:r>
          </a:p>
          <a:p>
            <a:r>
              <a:rPr lang="en-GB" sz="2800" dirty="0"/>
              <a:t>Let's assume we have a </a:t>
            </a:r>
            <a:r>
              <a:rPr lang="en-GB" sz="2800" b="1" dirty="0"/>
              <a:t>Student</a:t>
            </a:r>
            <a:r>
              <a:rPr lang="en-GB" sz="2800" dirty="0"/>
              <a:t> relation with the following attributes:</a:t>
            </a:r>
          </a:p>
          <a:p>
            <a:r>
              <a:rPr lang="en-GB" sz="2800" b="1" dirty="0">
                <a:solidFill>
                  <a:schemeClr val="tx2">
                    <a:lumMod val="75000"/>
                  </a:schemeClr>
                </a:solidFill>
              </a:rPr>
              <a:t>Student(ID, Name, Age, Major, GPA)</a:t>
            </a:r>
            <a:endParaRPr lang="en-GB" sz="2800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sz="2800" b="1" dirty="0"/>
          </a:p>
          <a:p>
            <a:r>
              <a:rPr lang="en-GB" sz="2800" b="1" dirty="0"/>
              <a:t>Example 1: </a:t>
            </a:r>
          </a:p>
          <a:p>
            <a:r>
              <a:rPr lang="en-GB" sz="2800" b="1" dirty="0"/>
              <a:t>         Find all students majoring in 'Computer Science‘</a:t>
            </a:r>
          </a:p>
          <a:p>
            <a:endParaRPr lang="en-GB" sz="2800" b="1" dirty="0"/>
          </a:p>
          <a:p>
            <a:r>
              <a:rPr lang="en-GB" sz="2800" b="1" dirty="0"/>
              <a:t>Example 2: </a:t>
            </a:r>
          </a:p>
          <a:p>
            <a:r>
              <a:rPr lang="en-GB" sz="2800" b="1" dirty="0"/>
              <a:t>         Find names of students with GPA greater than 3.5</a:t>
            </a:r>
          </a:p>
          <a:p>
            <a:endParaRPr lang="en-GB" sz="2800" b="1" dirty="0"/>
          </a:p>
          <a:p>
            <a:r>
              <a:rPr lang="en-GB" sz="2800" b="1" dirty="0"/>
              <a:t>Example 3: </a:t>
            </a:r>
          </a:p>
          <a:p>
            <a:r>
              <a:rPr lang="en-GB" sz="2800" b="1" dirty="0"/>
              <a:t>  </a:t>
            </a:r>
          </a:p>
          <a:p>
            <a:r>
              <a:rPr lang="en-GB" sz="2800" b="1" dirty="0"/>
              <a:t>Find students older than 21 and studying 'Mathematics'</a:t>
            </a:r>
          </a:p>
          <a:p>
            <a:endParaRPr lang="en-GB" sz="2800" b="1" dirty="0"/>
          </a:p>
          <a:p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24200386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" y="2334552"/>
            <a:ext cx="9144000" cy="1409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" y="3744032"/>
            <a:ext cx="9144000" cy="9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8021" y="5181600"/>
            <a:ext cx="913597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dirty="0"/>
              <a:t>This expression returns all tuples </a:t>
            </a:r>
            <a:r>
              <a:rPr lang="en-GB" sz="3200" b="1" dirty="0"/>
              <a:t>S</a:t>
            </a:r>
            <a:r>
              <a:rPr lang="en-GB" sz="3200" dirty="0"/>
              <a:t> from the </a:t>
            </a:r>
            <a:r>
              <a:rPr lang="en-GB" sz="3200" b="1" dirty="0"/>
              <a:t>Student</a:t>
            </a:r>
            <a:r>
              <a:rPr lang="en-GB" sz="3200" dirty="0"/>
              <a:t> relation where the </a:t>
            </a:r>
            <a:r>
              <a:rPr lang="en-GB" sz="3200" b="1" dirty="0"/>
              <a:t>Major</a:t>
            </a:r>
            <a:r>
              <a:rPr lang="en-GB" sz="3200" dirty="0"/>
              <a:t> attribute is 'Computer Science'.</a:t>
            </a:r>
          </a:p>
        </p:txBody>
      </p:sp>
    </p:spTree>
    <p:extLst>
      <p:ext uri="{BB962C8B-B14F-4D97-AF65-F5344CB8AC3E}">
        <p14:creationId xmlns:p14="http://schemas.microsoft.com/office/powerpoint/2010/main" val="35297780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5" y="1371600"/>
            <a:ext cx="9030018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53376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9220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chemeClr val="tx2">
                    <a:lumMod val="75000"/>
                  </a:schemeClr>
                </a:solidFill>
              </a:rPr>
              <a:t>2. Domain Relational Calculus </a:t>
            </a:r>
            <a:endParaRPr lang="en-GB" sz="3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GB" sz="2800" dirty="0"/>
              <a:t>A domain variable is a variable that ranges over the values in the domain of some attribute </a:t>
            </a:r>
          </a:p>
          <a:p>
            <a:r>
              <a:rPr lang="en-GB" sz="2800" dirty="0"/>
              <a:t>A DRC query has the form </a:t>
            </a:r>
          </a:p>
          <a:p>
            <a:r>
              <a:rPr lang="en-GB" sz="2800" i="1" dirty="0"/>
              <a:t>                  { </a:t>
            </a:r>
            <a:r>
              <a:rPr lang="en-GB" sz="2800" dirty="0"/>
              <a:t>〈 </a:t>
            </a:r>
            <a:r>
              <a:rPr lang="en-GB" sz="2800" i="1" dirty="0"/>
              <a:t>x</a:t>
            </a:r>
            <a:r>
              <a:rPr lang="en-GB" sz="2800" dirty="0"/>
              <a:t>1</a:t>
            </a:r>
            <a:r>
              <a:rPr lang="en-GB" sz="2800" i="1" dirty="0"/>
              <a:t>, x</a:t>
            </a:r>
            <a:r>
              <a:rPr lang="en-GB" sz="2800" dirty="0"/>
              <a:t>2</a:t>
            </a:r>
            <a:r>
              <a:rPr lang="en-GB" sz="2800" i="1" dirty="0"/>
              <a:t>, . . . , </a:t>
            </a:r>
            <a:r>
              <a:rPr lang="en-GB" sz="2800" i="1" dirty="0" err="1"/>
              <a:t>xn</a:t>
            </a:r>
            <a:r>
              <a:rPr lang="en-GB" sz="2800" i="1" dirty="0"/>
              <a:t> </a:t>
            </a:r>
            <a:r>
              <a:rPr lang="en-GB" sz="2800" dirty="0"/>
              <a:t>〉 </a:t>
            </a:r>
            <a:r>
              <a:rPr lang="en-GB" sz="2800" i="1" dirty="0"/>
              <a:t>| p</a:t>
            </a:r>
            <a:r>
              <a:rPr lang="en-GB" sz="2800" dirty="0"/>
              <a:t>(〈</a:t>
            </a:r>
            <a:r>
              <a:rPr lang="en-GB" sz="2800" i="1" dirty="0"/>
              <a:t>x</a:t>
            </a:r>
            <a:r>
              <a:rPr lang="en-GB" sz="2800" dirty="0"/>
              <a:t>1</a:t>
            </a:r>
            <a:r>
              <a:rPr lang="en-GB" sz="2800" i="1" dirty="0"/>
              <a:t>,x</a:t>
            </a:r>
            <a:r>
              <a:rPr lang="en-GB" sz="2800" dirty="0"/>
              <a:t>2</a:t>
            </a:r>
            <a:r>
              <a:rPr lang="en-GB" sz="2800" i="1" dirty="0"/>
              <a:t>,.. ., </a:t>
            </a:r>
            <a:r>
              <a:rPr lang="en-GB" sz="2800" i="1" dirty="0" err="1"/>
              <a:t>xn</a:t>
            </a:r>
            <a:r>
              <a:rPr lang="en-GB" sz="2800" dirty="0"/>
              <a:t>〉)</a:t>
            </a:r>
            <a:r>
              <a:rPr lang="en-GB" sz="2800" i="1" dirty="0"/>
              <a:t>} </a:t>
            </a:r>
          </a:p>
          <a:p>
            <a:endParaRPr lang="en-GB" sz="2800" i="1" dirty="0"/>
          </a:p>
          <a:p>
            <a:r>
              <a:rPr lang="en-GB" sz="2800" dirty="0"/>
              <a:t>where </a:t>
            </a:r>
          </a:p>
          <a:p>
            <a:r>
              <a:rPr lang="en-GB" sz="2800" dirty="0"/>
              <a:t>       each </a:t>
            </a:r>
            <a:r>
              <a:rPr lang="en-GB" sz="2800" i="1" dirty="0"/>
              <a:t>xi </a:t>
            </a:r>
            <a:r>
              <a:rPr lang="en-GB" sz="2800" dirty="0"/>
              <a:t>is either a </a:t>
            </a:r>
            <a:r>
              <a:rPr lang="en-GB" sz="2800" i="1" dirty="0"/>
              <a:t>domain variable </a:t>
            </a:r>
            <a:r>
              <a:rPr lang="en-GB" sz="2800" dirty="0"/>
              <a:t>or field  </a:t>
            </a:r>
          </a:p>
          <a:p>
            <a:r>
              <a:rPr lang="en-GB" sz="2800" i="1" dirty="0"/>
              <a:t>                p</a:t>
            </a:r>
            <a:r>
              <a:rPr lang="en-GB" sz="2800" dirty="0"/>
              <a:t>(〈</a:t>
            </a:r>
            <a:r>
              <a:rPr lang="en-GB" sz="2800" i="1" dirty="0"/>
              <a:t>x</a:t>
            </a:r>
            <a:r>
              <a:rPr lang="en-GB" sz="2800" dirty="0"/>
              <a:t>1</a:t>
            </a:r>
            <a:r>
              <a:rPr lang="en-GB" sz="2800" i="1" dirty="0"/>
              <a:t>,x</a:t>
            </a:r>
            <a:r>
              <a:rPr lang="en-GB" sz="2800" dirty="0"/>
              <a:t>2</a:t>
            </a:r>
            <a:r>
              <a:rPr lang="en-GB" sz="2800" i="1" dirty="0"/>
              <a:t>,.. ., </a:t>
            </a:r>
            <a:r>
              <a:rPr lang="en-GB" sz="2800" i="1" dirty="0" err="1"/>
              <a:t>xn</a:t>
            </a:r>
            <a:r>
              <a:rPr lang="en-GB" sz="2800" dirty="0"/>
              <a:t>〉) denotes a DRC formula </a:t>
            </a:r>
          </a:p>
        </p:txBody>
      </p:sp>
    </p:spTree>
    <p:extLst>
      <p:ext uri="{BB962C8B-B14F-4D97-AF65-F5344CB8AC3E}">
        <p14:creationId xmlns:p14="http://schemas.microsoft.com/office/powerpoint/2010/main" val="42374985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" y="1600200"/>
            <a:ext cx="9133115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2881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1606062"/>
            <a:ext cx="9375986" cy="525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0767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3942</Words>
  <Application>Microsoft Office PowerPoint</Application>
  <PresentationFormat>On-screen Show (4:3)</PresentationFormat>
  <Paragraphs>353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Agency FB</vt:lpstr>
      <vt:lpstr>Arial</vt:lpstr>
      <vt:lpstr>Arial Unicode MS</vt:lpstr>
      <vt:lpstr>Calibri</vt:lpstr>
      <vt:lpstr>Times New Roman</vt:lpstr>
      <vt:lpstr>Wingdings</vt:lpstr>
      <vt:lpstr>Office Theme</vt:lpstr>
      <vt:lpstr>UNIT-II                 Introduction to the Relational Model</vt:lpstr>
      <vt:lpstr>PowerPoint Presentation</vt:lpstr>
      <vt:lpstr>PowerPoint Presentation</vt:lpstr>
      <vt:lpstr>PowerPoint Presentation</vt:lpstr>
      <vt:lpstr>PowerPoint Presentation</vt:lpstr>
      <vt:lpstr>Integrity Constraints</vt:lpstr>
      <vt:lpstr>PowerPoint Presentation</vt:lpstr>
      <vt:lpstr>Types of Integrity Constraint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UNIT-II                 Introduction to the Relational Model</dc:title>
  <dc:creator>ADMIN</dc:creator>
  <cp:lastModifiedBy>rapyaka.lavanya@outlook.com</cp:lastModifiedBy>
  <cp:revision>7</cp:revision>
  <dcterms:created xsi:type="dcterms:W3CDTF">2006-08-16T00:00:00Z</dcterms:created>
  <dcterms:modified xsi:type="dcterms:W3CDTF">2026-02-07T16:50:21Z</dcterms:modified>
</cp:coreProperties>
</file>